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1865" r:id="rId3"/>
    <p:sldId id="1866" r:id="rId4"/>
    <p:sldId id="1867" r:id="rId5"/>
    <p:sldId id="1868" r:id="rId6"/>
    <p:sldId id="1869" r:id="rId7"/>
    <p:sldId id="1870" r:id="rId8"/>
    <p:sldId id="1873" r:id="rId9"/>
    <p:sldId id="1875" r:id="rId10"/>
    <p:sldId id="1876" r:id="rId11"/>
    <p:sldId id="1874" r:id="rId12"/>
    <p:sldId id="700" r:id="rId13"/>
    <p:sldId id="259" r:id="rId14"/>
    <p:sldId id="306" r:id="rId15"/>
    <p:sldId id="261" r:id="rId16"/>
    <p:sldId id="304" r:id="rId1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8000"/>
    <a:srgbClr val="19426B"/>
    <a:srgbClr val="E1292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Стиль із теми 2 –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Стиль із теми 2 –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19" autoAdjust="0"/>
    <p:restoredTop sz="94892" autoAdjust="0"/>
  </p:normalViewPr>
  <p:slideViewPr>
    <p:cSldViewPr snapToGrid="0">
      <p:cViewPr varScale="1">
        <p:scale>
          <a:sx n="78" d="100"/>
          <a:sy n="78" d="100"/>
        </p:scale>
        <p:origin x="48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C1D0A-B9C4-4548-91F6-1922859C24DA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CB05D-96F8-4967-8A65-A7CBBD7B18D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4537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teach-inf.com.ua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each-inf.com.ua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4">
            <a:extLst>
              <a:ext uri="{FF2B5EF4-FFF2-40B4-BE49-F238E27FC236}">
                <a16:creationId xmlns:a16="http://schemas.microsoft.com/office/drawing/2014/main" id="{EBB81219-6509-49E3-8C4B-D3555AB853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3527436"/>
            <a:ext cx="12192000" cy="3357563"/>
          </a:xfrm>
          <a:prstGeom prst="rect">
            <a:avLst/>
          </a:prstGeom>
          <a:solidFill>
            <a:srgbClr val="398AC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051E6D85-467C-40E9-82CB-BCAFFA6AD7E2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3141663"/>
            <a:ext cx="12192000" cy="431800"/>
          </a:xfrm>
          <a:prstGeom prst="rect">
            <a:avLst/>
          </a:prstGeom>
          <a:solidFill>
            <a:srgbClr val="19426B"/>
          </a:solidFill>
          <a:ln w="9525">
            <a:solidFill>
              <a:srgbClr val="19426B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8" name="Підзаголовок 2">
            <a:extLst>
              <a:ext uri="{FF2B5EF4-FFF2-40B4-BE49-F238E27FC236}">
                <a16:creationId xmlns:a16="http://schemas.microsoft.com/office/drawing/2014/main" id="{789797E3-A88C-414B-A805-7D7CB7310B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07947" y="3184362"/>
            <a:ext cx="6363424" cy="40341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lang="uk-UA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</a:defRPr>
            </a:lvl1pPr>
          </a:lstStyle>
          <a:p>
            <a:pPr marL="0" marR="0" lvl="0" indent="0" algn="r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BBC00"/>
              </a:buClr>
              <a:buSzTx/>
              <a:buFont typeface="Wingdings" panose="05000000000000000000" pitchFamily="2" charset="2"/>
              <a:buNone/>
              <a:tabLst/>
            </a:pPr>
            <a:r>
              <a:rPr lang="uk-UA" dirty="0"/>
              <a:t>Зразок підзаголовка</a:t>
            </a:r>
          </a:p>
        </p:txBody>
      </p:sp>
      <p:grpSp>
        <p:nvGrpSpPr>
          <p:cNvPr id="29" name="Групувати 28">
            <a:extLst>
              <a:ext uri="{FF2B5EF4-FFF2-40B4-BE49-F238E27FC236}">
                <a16:creationId xmlns:a16="http://schemas.microsoft.com/office/drawing/2014/main" id="{6A3539B1-8846-4FD7-9AD8-47C2515E1489}"/>
              </a:ext>
            </a:extLst>
          </p:cNvPr>
          <p:cNvGrpSpPr/>
          <p:nvPr userDrawn="1"/>
        </p:nvGrpSpPr>
        <p:grpSpPr>
          <a:xfrm>
            <a:off x="110888" y="992033"/>
            <a:ext cx="6123569" cy="4834253"/>
            <a:chOff x="498986" y="752629"/>
            <a:chExt cx="5959414" cy="4704661"/>
          </a:xfrm>
        </p:grpSpPr>
        <p:grpSp>
          <p:nvGrpSpPr>
            <p:cNvPr id="30" name="Графіка 3">
              <a:extLst>
                <a:ext uri="{FF2B5EF4-FFF2-40B4-BE49-F238E27FC236}">
                  <a16:creationId xmlns:a16="http://schemas.microsoft.com/office/drawing/2014/main" id="{AD547174-2131-4755-9368-1B365720BF42}"/>
                </a:ext>
              </a:extLst>
            </p:cNvPr>
            <p:cNvGrpSpPr/>
            <p:nvPr/>
          </p:nvGrpSpPr>
          <p:grpSpPr>
            <a:xfrm>
              <a:off x="498986" y="752629"/>
              <a:ext cx="5959414" cy="4704661"/>
              <a:chOff x="498986" y="752629"/>
              <a:chExt cx="5959414" cy="4704661"/>
            </a:xfrm>
          </p:grpSpPr>
          <p:sp>
            <p:nvSpPr>
              <p:cNvPr id="32" name="Полілінія: фігура 31">
                <a:extLst>
                  <a:ext uri="{FF2B5EF4-FFF2-40B4-BE49-F238E27FC236}">
                    <a16:creationId xmlns:a16="http://schemas.microsoft.com/office/drawing/2014/main" id="{AB45F98B-8154-455B-B4C4-ECA632A4F1D5}"/>
                  </a:ext>
                </a:extLst>
              </p:cNvPr>
              <p:cNvSpPr/>
              <p:nvPr/>
            </p:nvSpPr>
            <p:spPr>
              <a:xfrm>
                <a:off x="498986" y="5024729"/>
                <a:ext cx="5959414" cy="432561"/>
              </a:xfrm>
              <a:custGeom>
                <a:avLst/>
                <a:gdLst>
                  <a:gd name="connsiteX0" fmla="*/ 5959415 w 5959414"/>
                  <a:gd name="connsiteY0" fmla="*/ 216281 h 432561"/>
                  <a:gd name="connsiteX1" fmla="*/ 2979707 w 5959414"/>
                  <a:gd name="connsiteY1" fmla="*/ 432561 h 432561"/>
                  <a:gd name="connsiteX2" fmla="*/ 0 w 5959414"/>
                  <a:gd name="connsiteY2" fmla="*/ 216281 h 432561"/>
                  <a:gd name="connsiteX3" fmla="*/ 2979707 w 5959414"/>
                  <a:gd name="connsiteY3" fmla="*/ 0 h 432561"/>
                  <a:gd name="connsiteX4" fmla="*/ 5959415 w 5959414"/>
                  <a:gd name="connsiteY4" fmla="*/ 216281 h 432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414" h="432561">
                    <a:moveTo>
                      <a:pt x="5959415" y="216281"/>
                    </a:moveTo>
                    <a:cubicBezTo>
                      <a:pt x="5959415" y="335713"/>
                      <a:pt x="4625312" y="432561"/>
                      <a:pt x="2979707" y="432561"/>
                    </a:cubicBezTo>
                    <a:cubicBezTo>
                      <a:pt x="1334103" y="432561"/>
                      <a:pt x="0" y="335713"/>
                      <a:pt x="0" y="216281"/>
                    </a:cubicBezTo>
                    <a:cubicBezTo>
                      <a:pt x="0" y="96848"/>
                      <a:pt x="1334103" y="0"/>
                      <a:pt x="2979707" y="0"/>
                    </a:cubicBezTo>
                    <a:cubicBezTo>
                      <a:pt x="4625312" y="203"/>
                      <a:pt x="5959415" y="96848"/>
                      <a:pt x="5959415" y="216281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20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uk-UA"/>
              </a:p>
            </p:txBody>
          </p:sp>
          <p:grpSp>
            <p:nvGrpSpPr>
              <p:cNvPr id="33" name="Графіка 3">
                <a:extLst>
                  <a:ext uri="{FF2B5EF4-FFF2-40B4-BE49-F238E27FC236}">
                    <a16:creationId xmlns:a16="http://schemas.microsoft.com/office/drawing/2014/main" id="{12FE55D5-6A19-4CC2-94EE-56B7B4AEFC06}"/>
                  </a:ext>
                </a:extLst>
              </p:cNvPr>
              <p:cNvGrpSpPr/>
              <p:nvPr/>
            </p:nvGrpSpPr>
            <p:grpSpPr>
              <a:xfrm>
                <a:off x="818828" y="752629"/>
                <a:ext cx="5132543" cy="4562847"/>
                <a:chOff x="818828" y="752629"/>
                <a:chExt cx="5132543" cy="4562847"/>
              </a:xfrm>
            </p:grpSpPr>
            <p:sp>
              <p:nvSpPr>
                <p:cNvPr id="35" name="Полілінія: фігура 34">
                  <a:extLst>
                    <a:ext uri="{FF2B5EF4-FFF2-40B4-BE49-F238E27FC236}">
                      <a16:creationId xmlns:a16="http://schemas.microsoft.com/office/drawing/2014/main" id="{1101E7EE-465B-4927-B698-D27DEC4D1E8D}"/>
                    </a:ext>
                  </a:extLst>
                </p:cNvPr>
                <p:cNvSpPr/>
                <p:nvPr/>
              </p:nvSpPr>
              <p:spPr>
                <a:xfrm>
                  <a:off x="818828" y="752629"/>
                  <a:ext cx="5132339" cy="3033014"/>
                </a:xfrm>
                <a:custGeom>
                  <a:avLst/>
                  <a:gdLst>
                    <a:gd name="connsiteX0" fmla="*/ 5132340 w 5132339"/>
                    <a:gd name="connsiteY0" fmla="*/ 3033015 h 3033014"/>
                    <a:gd name="connsiteX1" fmla="*/ 0 w 5132339"/>
                    <a:gd name="connsiteY1" fmla="*/ 3033015 h 3033014"/>
                    <a:gd name="connsiteX2" fmla="*/ 0 w 5132339"/>
                    <a:gd name="connsiteY2" fmla="*/ 305601 h 3033014"/>
                    <a:gd name="connsiteX3" fmla="*/ 305601 w 5132339"/>
                    <a:gd name="connsiteY3" fmla="*/ 0 h 3033014"/>
                    <a:gd name="connsiteX4" fmla="*/ 4847085 w 5132339"/>
                    <a:gd name="connsiteY4" fmla="*/ 0 h 3033014"/>
                    <a:gd name="connsiteX5" fmla="*/ 5132340 w 5132339"/>
                    <a:gd name="connsiteY5" fmla="*/ 285254 h 3033014"/>
                    <a:gd name="connsiteX6" fmla="*/ 5132340 w 5132339"/>
                    <a:gd name="connsiteY6" fmla="*/ 3033015 h 3033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132339" h="3033014">
                      <a:moveTo>
                        <a:pt x="5132340" y="3033015"/>
                      </a:moveTo>
                      <a:lnTo>
                        <a:pt x="0" y="3033015"/>
                      </a:lnTo>
                      <a:lnTo>
                        <a:pt x="0" y="305601"/>
                      </a:lnTo>
                      <a:cubicBezTo>
                        <a:pt x="0" y="137541"/>
                        <a:pt x="137541" y="0"/>
                        <a:pt x="305601" y="0"/>
                      </a:cubicBezTo>
                      <a:lnTo>
                        <a:pt x="4847085" y="0"/>
                      </a:lnTo>
                      <a:cubicBezTo>
                        <a:pt x="5003955" y="0"/>
                        <a:pt x="5132340" y="128385"/>
                        <a:pt x="5132340" y="285254"/>
                      </a:cubicBezTo>
                      <a:lnTo>
                        <a:pt x="5132340" y="3033015"/>
                      </a:lnTo>
                      <a:close/>
                    </a:path>
                  </a:pathLst>
                </a:custGeom>
                <a:solidFill>
                  <a:srgbClr val="182632"/>
                </a:solidFill>
                <a:ln w="20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uk-UA"/>
                </a:p>
              </p:txBody>
            </p:sp>
            <p:sp>
              <p:nvSpPr>
                <p:cNvPr id="36" name="Полілінія: фігура 35">
                  <a:extLst>
                    <a:ext uri="{FF2B5EF4-FFF2-40B4-BE49-F238E27FC236}">
                      <a16:creationId xmlns:a16="http://schemas.microsoft.com/office/drawing/2014/main" id="{70CE0B45-DE66-4955-90E9-221492C383CC}"/>
                    </a:ext>
                  </a:extLst>
                </p:cNvPr>
                <p:cNvSpPr/>
                <p:nvPr/>
              </p:nvSpPr>
              <p:spPr>
                <a:xfrm>
                  <a:off x="818828" y="3785643"/>
                  <a:ext cx="5132543" cy="460028"/>
                </a:xfrm>
                <a:custGeom>
                  <a:avLst/>
                  <a:gdLst>
                    <a:gd name="connsiteX0" fmla="*/ 4672311 w 5132543"/>
                    <a:gd name="connsiteY0" fmla="*/ 460028 h 460028"/>
                    <a:gd name="connsiteX1" fmla="*/ 460029 w 5132543"/>
                    <a:gd name="connsiteY1" fmla="*/ 460028 h 460028"/>
                    <a:gd name="connsiteX2" fmla="*/ 0 w 5132543"/>
                    <a:gd name="connsiteY2" fmla="*/ 0 h 460028"/>
                    <a:gd name="connsiteX3" fmla="*/ 0 w 5132543"/>
                    <a:gd name="connsiteY3" fmla="*/ 0 h 460028"/>
                    <a:gd name="connsiteX4" fmla="*/ 5132544 w 5132543"/>
                    <a:gd name="connsiteY4" fmla="*/ 0 h 460028"/>
                    <a:gd name="connsiteX5" fmla="*/ 5132544 w 5132543"/>
                    <a:gd name="connsiteY5" fmla="*/ 0 h 460028"/>
                    <a:gd name="connsiteX6" fmla="*/ 4672311 w 5132543"/>
                    <a:gd name="connsiteY6" fmla="*/ 460028 h 460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132543" h="460028">
                      <a:moveTo>
                        <a:pt x="4672311" y="460028"/>
                      </a:moveTo>
                      <a:lnTo>
                        <a:pt x="460029" y="460028"/>
                      </a:lnTo>
                      <a:cubicBezTo>
                        <a:pt x="205904" y="460028"/>
                        <a:pt x="0" y="254124"/>
                        <a:pt x="0" y="0"/>
                      </a:cubicBezTo>
                      <a:lnTo>
                        <a:pt x="0" y="0"/>
                      </a:lnTo>
                      <a:lnTo>
                        <a:pt x="5132544" y="0"/>
                      </a:lnTo>
                      <a:lnTo>
                        <a:pt x="5132544" y="0"/>
                      </a:lnTo>
                      <a:cubicBezTo>
                        <a:pt x="5132340" y="254124"/>
                        <a:pt x="4926436" y="460028"/>
                        <a:pt x="4672311" y="4600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uk-UA"/>
                </a:p>
              </p:txBody>
            </p:sp>
            <p:sp>
              <p:nvSpPr>
                <p:cNvPr id="37" name="Полілінія: фігура 36">
                  <a:extLst>
                    <a:ext uri="{FF2B5EF4-FFF2-40B4-BE49-F238E27FC236}">
                      <a16:creationId xmlns:a16="http://schemas.microsoft.com/office/drawing/2014/main" id="{6207BB18-D846-4BAF-8020-CBF1850FFEDE}"/>
                    </a:ext>
                  </a:extLst>
                </p:cNvPr>
                <p:cNvSpPr/>
                <p:nvPr/>
              </p:nvSpPr>
              <p:spPr>
                <a:xfrm>
                  <a:off x="2915916" y="4245671"/>
                  <a:ext cx="931247" cy="774988"/>
                </a:xfrm>
                <a:custGeom>
                  <a:avLst/>
                  <a:gdLst>
                    <a:gd name="connsiteX0" fmla="*/ 0 w 931247"/>
                    <a:gd name="connsiteY0" fmla="*/ 0 h 774988"/>
                    <a:gd name="connsiteX1" fmla="*/ 931247 w 931247"/>
                    <a:gd name="connsiteY1" fmla="*/ 0 h 774988"/>
                    <a:gd name="connsiteX2" fmla="*/ 931247 w 931247"/>
                    <a:gd name="connsiteY2" fmla="*/ 774988 h 774988"/>
                    <a:gd name="connsiteX3" fmla="*/ 0 w 931247"/>
                    <a:gd name="connsiteY3" fmla="*/ 774988 h 774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1247" h="774988">
                      <a:moveTo>
                        <a:pt x="0" y="0"/>
                      </a:moveTo>
                      <a:lnTo>
                        <a:pt x="931247" y="0"/>
                      </a:lnTo>
                      <a:lnTo>
                        <a:pt x="931247" y="774988"/>
                      </a:lnTo>
                      <a:lnTo>
                        <a:pt x="0" y="774988"/>
                      </a:lnTo>
                      <a:close/>
                    </a:path>
                  </a:pathLst>
                </a:custGeom>
                <a:solidFill>
                  <a:srgbClr val="E1E1E1"/>
                </a:solidFill>
                <a:ln w="20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uk-UA"/>
                </a:p>
              </p:txBody>
            </p:sp>
            <p:sp>
              <p:nvSpPr>
                <p:cNvPr id="38" name="Полілінія: фігура 37">
                  <a:extLst>
                    <a:ext uri="{FF2B5EF4-FFF2-40B4-BE49-F238E27FC236}">
                      <a16:creationId xmlns:a16="http://schemas.microsoft.com/office/drawing/2014/main" id="{DDAA05C8-1442-40AB-B3EC-BA084EDF2F33}"/>
                    </a:ext>
                  </a:extLst>
                </p:cNvPr>
                <p:cNvSpPr/>
                <p:nvPr/>
              </p:nvSpPr>
              <p:spPr>
                <a:xfrm>
                  <a:off x="2915916" y="4245671"/>
                  <a:ext cx="931247" cy="245579"/>
                </a:xfrm>
                <a:custGeom>
                  <a:avLst/>
                  <a:gdLst>
                    <a:gd name="connsiteX0" fmla="*/ 0 w 931247"/>
                    <a:gd name="connsiteY0" fmla="*/ 0 h 245579"/>
                    <a:gd name="connsiteX1" fmla="*/ 931247 w 931247"/>
                    <a:gd name="connsiteY1" fmla="*/ 0 h 245579"/>
                    <a:gd name="connsiteX2" fmla="*/ 931247 w 931247"/>
                    <a:gd name="connsiteY2" fmla="*/ 245579 h 245579"/>
                    <a:gd name="connsiteX3" fmla="*/ 0 w 931247"/>
                    <a:gd name="connsiteY3" fmla="*/ 245579 h 245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1247" h="245579">
                      <a:moveTo>
                        <a:pt x="0" y="0"/>
                      </a:moveTo>
                      <a:lnTo>
                        <a:pt x="931247" y="0"/>
                      </a:lnTo>
                      <a:lnTo>
                        <a:pt x="931247" y="245579"/>
                      </a:lnTo>
                      <a:lnTo>
                        <a:pt x="0" y="245579"/>
                      </a:lnTo>
                      <a:close/>
                    </a:path>
                  </a:pathLst>
                </a:custGeom>
                <a:solidFill>
                  <a:srgbClr val="BBBBBB"/>
                </a:solidFill>
                <a:ln w="20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uk-UA"/>
                </a:p>
              </p:txBody>
            </p:sp>
            <p:sp>
              <p:nvSpPr>
                <p:cNvPr id="39" name="Полілінія: фігура 38">
                  <a:extLst>
                    <a:ext uri="{FF2B5EF4-FFF2-40B4-BE49-F238E27FC236}">
                      <a16:creationId xmlns:a16="http://schemas.microsoft.com/office/drawing/2014/main" id="{79B40208-7819-4E2B-A408-FBCF15330EA0}"/>
                    </a:ext>
                  </a:extLst>
                </p:cNvPr>
                <p:cNvSpPr/>
                <p:nvPr/>
              </p:nvSpPr>
              <p:spPr>
                <a:xfrm>
                  <a:off x="2305121" y="5020660"/>
                  <a:ext cx="2153039" cy="294816"/>
                </a:xfrm>
                <a:custGeom>
                  <a:avLst/>
                  <a:gdLst>
                    <a:gd name="connsiteX0" fmla="*/ 2153039 w 2153039"/>
                    <a:gd name="connsiteY0" fmla="*/ 294817 h 294816"/>
                    <a:gd name="connsiteX1" fmla="*/ 0 w 2153039"/>
                    <a:gd name="connsiteY1" fmla="*/ 294817 h 294816"/>
                    <a:gd name="connsiteX2" fmla="*/ 0 w 2153039"/>
                    <a:gd name="connsiteY2" fmla="*/ 244155 h 294816"/>
                    <a:gd name="connsiteX3" fmla="*/ 244155 w 2153039"/>
                    <a:gd name="connsiteY3" fmla="*/ 0 h 294816"/>
                    <a:gd name="connsiteX4" fmla="*/ 1908885 w 2153039"/>
                    <a:gd name="connsiteY4" fmla="*/ 0 h 294816"/>
                    <a:gd name="connsiteX5" fmla="*/ 2153039 w 2153039"/>
                    <a:gd name="connsiteY5" fmla="*/ 244155 h 294816"/>
                    <a:gd name="connsiteX6" fmla="*/ 2153039 w 2153039"/>
                    <a:gd name="connsiteY6" fmla="*/ 294817 h 294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53039" h="294816">
                      <a:moveTo>
                        <a:pt x="2153039" y="294817"/>
                      </a:moveTo>
                      <a:lnTo>
                        <a:pt x="0" y="294817"/>
                      </a:lnTo>
                      <a:lnTo>
                        <a:pt x="0" y="244155"/>
                      </a:lnTo>
                      <a:cubicBezTo>
                        <a:pt x="0" y="109870"/>
                        <a:pt x="109870" y="0"/>
                        <a:pt x="244155" y="0"/>
                      </a:cubicBezTo>
                      <a:lnTo>
                        <a:pt x="1908885" y="0"/>
                      </a:lnTo>
                      <a:cubicBezTo>
                        <a:pt x="2043170" y="0"/>
                        <a:pt x="2153039" y="109870"/>
                        <a:pt x="2153039" y="244155"/>
                      </a:cubicBezTo>
                      <a:lnTo>
                        <a:pt x="2153039" y="2948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0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uk-UA"/>
                </a:p>
              </p:txBody>
            </p:sp>
          </p:grpSp>
          <p:sp>
            <p:nvSpPr>
              <p:cNvPr id="34" name="Полілінія: фігура 33">
                <a:extLst>
                  <a:ext uri="{FF2B5EF4-FFF2-40B4-BE49-F238E27FC236}">
                    <a16:creationId xmlns:a16="http://schemas.microsoft.com/office/drawing/2014/main" id="{DFA0FA66-63AE-4794-BA46-7F9291CC03BE}"/>
                  </a:ext>
                </a:extLst>
              </p:cNvPr>
              <p:cNvSpPr/>
              <p:nvPr/>
            </p:nvSpPr>
            <p:spPr>
              <a:xfrm>
                <a:off x="3218464" y="3855227"/>
                <a:ext cx="290137" cy="290137"/>
              </a:xfrm>
              <a:custGeom>
                <a:avLst/>
                <a:gdLst>
                  <a:gd name="connsiteX0" fmla="*/ 290137 w 290137"/>
                  <a:gd name="connsiteY0" fmla="*/ 145069 h 290137"/>
                  <a:gd name="connsiteX1" fmla="*/ 145069 w 290137"/>
                  <a:gd name="connsiteY1" fmla="*/ 290138 h 290137"/>
                  <a:gd name="connsiteX2" fmla="*/ 0 w 290137"/>
                  <a:gd name="connsiteY2" fmla="*/ 145069 h 290137"/>
                  <a:gd name="connsiteX3" fmla="*/ 145069 w 290137"/>
                  <a:gd name="connsiteY3" fmla="*/ 0 h 290137"/>
                  <a:gd name="connsiteX4" fmla="*/ 290137 w 290137"/>
                  <a:gd name="connsiteY4" fmla="*/ 145069 h 290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137" h="290137">
                    <a:moveTo>
                      <a:pt x="290137" y="145069"/>
                    </a:moveTo>
                    <a:cubicBezTo>
                      <a:pt x="290137" y="225233"/>
                      <a:pt x="225233" y="290138"/>
                      <a:pt x="145069" y="290138"/>
                    </a:cubicBezTo>
                    <a:cubicBezTo>
                      <a:pt x="64905" y="290138"/>
                      <a:pt x="0" y="225233"/>
                      <a:pt x="0" y="145069"/>
                    </a:cubicBezTo>
                    <a:cubicBezTo>
                      <a:pt x="0" y="64905"/>
                      <a:pt x="64905" y="0"/>
                      <a:pt x="145069" y="0"/>
                    </a:cubicBezTo>
                    <a:cubicBezTo>
                      <a:pt x="225233" y="-203"/>
                      <a:pt x="290137" y="64905"/>
                      <a:pt x="290137" y="145069"/>
                    </a:cubicBezTo>
                    <a:close/>
                  </a:path>
                </a:pathLst>
              </a:custGeom>
              <a:solidFill>
                <a:srgbClr val="BBBBBB"/>
              </a:solidFill>
              <a:ln w="20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uk-UA"/>
              </a:p>
            </p:txBody>
          </p:sp>
        </p:grpSp>
        <p:sp>
          <p:nvSpPr>
            <p:cNvPr id="31" name="Прямокутник: округлені кути 30">
              <a:extLst>
                <a:ext uri="{FF2B5EF4-FFF2-40B4-BE49-F238E27FC236}">
                  <a16:creationId xmlns:a16="http://schemas.microsoft.com/office/drawing/2014/main" id="{A766EFF1-C3A8-473F-AE32-5FDD2597BE62}"/>
                </a:ext>
              </a:extLst>
            </p:cNvPr>
            <p:cNvSpPr/>
            <p:nvPr/>
          </p:nvSpPr>
          <p:spPr>
            <a:xfrm>
              <a:off x="1033888" y="973792"/>
              <a:ext cx="4695303" cy="2519272"/>
            </a:xfrm>
            <a:prstGeom prst="roundRect">
              <a:avLst>
                <a:gd name="adj" fmla="val 3560"/>
              </a:avLst>
            </a:prstGeom>
            <a:solidFill>
              <a:srgbClr val="EDED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40" name="Прямокутник 39">
            <a:extLst>
              <a:ext uri="{FF2B5EF4-FFF2-40B4-BE49-F238E27FC236}">
                <a16:creationId xmlns:a16="http://schemas.microsoft.com/office/drawing/2014/main" id="{D31D4D48-DF1A-4748-88FD-A6605B088F7B}"/>
              </a:ext>
            </a:extLst>
          </p:cNvPr>
          <p:cNvSpPr/>
          <p:nvPr userDrawn="1"/>
        </p:nvSpPr>
        <p:spPr>
          <a:xfrm>
            <a:off x="840927" y="1370500"/>
            <a:ext cx="4408377" cy="806701"/>
          </a:xfrm>
          <a:prstGeom prst="rect">
            <a:avLst/>
          </a:prstGeom>
          <a:solidFill>
            <a:srgbClr val="40404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Інформатика 9</a:t>
            </a:r>
          </a:p>
        </p:txBody>
      </p:sp>
      <p:sp>
        <p:nvSpPr>
          <p:cNvPr id="41" name="Прямокутник 40">
            <a:hlinkClick r:id="rId2"/>
            <a:extLst>
              <a:ext uri="{FF2B5EF4-FFF2-40B4-BE49-F238E27FC236}">
                <a16:creationId xmlns:a16="http://schemas.microsoft.com/office/drawing/2014/main" id="{C2E41B5F-B5E2-472F-8D4A-06CB45D89C17}"/>
              </a:ext>
            </a:extLst>
          </p:cNvPr>
          <p:cNvSpPr/>
          <p:nvPr userDrawn="1"/>
        </p:nvSpPr>
        <p:spPr>
          <a:xfrm>
            <a:off x="3496407" y="3413512"/>
            <a:ext cx="1991775" cy="40341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1600" b="1" kern="0" dirty="0">
                <a:solidFill>
                  <a:srgbClr val="40404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teach-inf.</a:t>
            </a:r>
            <a:r>
              <a:rPr lang="en-US" sz="1600" b="1" kern="0" dirty="0">
                <a:solidFill>
                  <a:srgbClr val="40404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com</a:t>
            </a:r>
            <a:r>
              <a:rPr lang="en-AU" sz="1600" b="1" kern="0" dirty="0">
                <a:solidFill>
                  <a:srgbClr val="40404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.ua</a:t>
            </a:r>
            <a:endParaRPr lang="uk-UA" sz="1600" b="1" kern="0" dirty="0">
              <a:solidFill>
                <a:srgbClr val="40404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42" name="Прямокутник 41">
            <a:extLst>
              <a:ext uri="{FF2B5EF4-FFF2-40B4-BE49-F238E27FC236}">
                <a16:creationId xmlns:a16="http://schemas.microsoft.com/office/drawing/2014/main" id="{FFAFD90D-DAF5-4555-B5CA-D109074590A7}"/>
              </a:ext>
            </a:extLst>
          </p:cNvPr>
          <p:cNvSpPr/>
          <p:nvPr userDrawn="1"/>
        </p:nvSpPr>
        <p:spPr>
          <a:xfrm>
            <a:off x="840927" y="2967652"/>
            <a:ext cx="1582233" cy="442463"/>
          </a:xfrm>
          <a:prstGeom prst="rect">
            <a:avLst/>
          </a:prstGeom>
          <a:solidFill>
            <a:srgbClr val="40404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uk-UA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за підручником</a:t>
            </a:r>
          </a:p>
        </p:txBody>
      </p:sp>
      <p:sp>
        <p:nvSpPr>
          <p:cNvPr id="43" name="Прямокутник 42">
            <a:extLst>
              <a:ext uri="{FF2B5EF4-FFF2-40B4-BE49-F238E27FC236}">
                <a16:creationId xmlns:a16="http://schemas.microsoft.com/office/drawing/2014/main" id="{A933301D-0483-4F7A-A35D-41FF0EECD747}"/>
              </a:ext>
            </a:extLst>
          </p:cNvPr>
          <p:cNvSpPr/>
          <p:nvPr userDrawn="1"/>
        </p:nvSpPr>
        <p:spPr>
          <a:xfrm>
            <a:off x="1133931" y="3338852"/>
            <a:ext cx="2201553" cy="381395"/>
          </a:xfrm>
          <a:prstGeom prst="rect">
            <a:avLst/>
          </a:prstGeom>
          <a:solidFill>
            <a:srgbClr val="42558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Морзе Н.В. та </a:t>
            </a:r>
            <a:r>
              <a:rPr kumimoji="0" lang="ru-RU" sz="14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ін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4" name="Заголовок 1">
            <a:extLst>
              <a:ext uri="{FF2B5EF4-FFF2-40B4-BE49-F238E27FC236}">
                <a16:creationId xmlns:a16="http://schemas.microsoft.com/office/drawing/2014/main" id="{0B73A0DE-0546-45C2-A461-ECE00E428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7947" y="203189"/>
            <a:ext cx="6191410" cy="2791689"/>
          </a:xfrm>
        </p:spPr>
        <p:txBody>
          <a:bodyPr anchor="ctr">
            <a:normAutofit/>
          </a:bodyPr>
          <a:lstStyle>
            <a:lvl1pPr algn="r">
              <a:defRPr kumimoji="0" lang="uk-UA" sz="4400" b="1" i="0" u="none" strike="noStrike" kern="1200" cap="none" spc="0" normalizeH="0" baseline="0" dirty="0">
                <a:ln>
                  <a:noFill/>
                </a:ln>
                <a:solidFill>
                  <a:srgbClr val="19426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/>
                <a:ea typeface="+mj-ea"/>
                <a:cs typeface="+mj-cs"/>
              </a:defRPr>
            </a:lvl1pPr>
          </a:lstStyle>
          <a:p>
            <a:r>
              <a:rPr lang="uk-UA" dirty="0"/>
              <a:t>Зразок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4506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і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6">
            <a:extLst>
              <a:ext uri="{FF2B5EF4-FFF2-40B4-BE49-F238E27FC236}">
                <a16:creationId xmlns:a16="http://schemas.microsoft.com/office/drawing/2014/main" id="{7B237C08-5946-43AA-B8F7-37F743284AA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11"/>
            <a:ext cx="12192000" cy="836613"/>
          </a:xfrm>
          <a:prstGeom prst="rect">
            <a:avLst/>
          </a:prstGeom>
          <a:solidFill>
            <a:srgbClr val="398AC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DDC7A6E6-F84C-44EF-AEC5-1FDE18F04883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798521"/>
            <a:ext cx="12192000" cy="312737"/>
          </a:xfrm>
          <a:prstGeom prst="rect">
            <a:avLst/>
          </a:prstGeom>
          <a:solidFill>
            <a:srgbClr val="19426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0" cap="none" spc="0" normalizeH="0" baseline="0" noProof="0">
              <a:ln>
                <a:noFill/>
              </a:ln>
              <a:solidFill>
                <a:srgbClr val="19426B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EADCF18A-8AA9-4E1F-957B-33DF5E621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591" y="162512"/>
            <a:ext cx="10487609" cy="53282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lnSpcReduction="10000"/>
          </a:bodyPr>
          <a:lstStyle>
            <a:lvl1pPr>
              <a:defRPr kumimoji="0" lang="uk-UA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</a:defRPr>
            </a:lvl1pPr>
          </a:lstStyle>
          <a:p>
            <a:pPr marL="0" lvl="0" fontAlgn="base">
              <a:lnSpc>
                <a:spcPct val="100000"/>
              </a:lnSpc>
              <a:spcAft>
                <a:spcPct val="0"/>
              </a:spcAft>
            </a:pPr>
            <a:r>
              <a:rPr lang="uk-UA" dirty="0"/>
              <a:t>Зразок заголовка</a:t>
            </a:r>
          </a:p>
        </p:txBody>
      </p: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1D4FAFC9-B4DA-49E2-A99F-E94F7ED1D023}"/>
              </a:ext>
            </a:extLst>
          </p:cNvPr>
          <p:cNvGrpSpPr/>
          <p:nvPr userDrawn="1"/>
        </p:nvGrpSpPr>
        <p:grpSpPr>
          <a:xfrm>
            <a:off x="47749" y="40005"/>
            <a:ext cx="1224001" cy="966288"/>
            <a:chOff x="498986" y="752629"/>
            <a:chExt cx="5959414" cy="4704661"/>
          </a:xfrm>
        </p:grpSpPr>
        <p:grpSp>
          <p:nvGrpSpPr>
            <p:cNvPr id="26" name="Графіка 3">
              <a:extLst>
                <a:ext uri="{FF2B5EF4-FFF2-40B4-BE49-F238E27FC236}">
                  <a16:creationId xmlns:a16="http://schemas.microsoft.com/office/drawing/2014/main" id="{B9D07490-B6E1-44C3-B6D7-2F901D0AFB5F}"/>
                </a:ext>
              </a:extLst>
            </p:cNvPr>
            <p:cNvGrpSpPr/>
            <p:nvPr/>
          </p:nvGrpSpPr>
          <p:grpSpPr>
            <a:xfrm>
              <a:off x="498986" y="752629"/>
              <a:ext cx="5959414" cy="4704661"/>
              <a:chOff x="498986" y="752629"/>
              <a:chExt cx="5959414" cy="4704661"/>
            </a:xfrm>
          </p:grpSpPr>
          <p:sp>
            <p:nvSpPr>
              <p:cNvPr id="28" name="Полілінія: фігура 27">
                <a:extLst>
                  <a:ext uri="{FF2B5EF4-FFF2-40B4-BE49-F238E27FC236}">
                    <a16:creationId xmlns:a16="http://schemas.microsoft.com/office/drawing/2014/main" id="{0F718CB1-DE2C-4D64-8F59-CBFEDF3DE847}"/>
                  </a:ext>
                </a:extLst>
              </p:cNvPr>
              <p:cNvSpPr/>
              <p:nvPr/>
            </p:nvSpPr>
            <p:spPr>
              <a:xfrm>
                <a:off x="498986" y="5024729"/>
                <a:ext cx="5959414" cy="432561"/>
              </a:xfrm>
              <a:custGeom>
                <a:avLst/>
                <a:gdLst>
                  <a:gd name="connsiteX0" fmla="*/ 5959415 w 5959414"/>
                  <a:gd name="connsiteY0" fmla="*/ 216281 h 432561"/>
                  <a:gd name="connsiteX1" fmla="*/ 2979707 w 5959414"/>
                  <a:gd name="connsiteY1" fmla="*/ 432561 h 432561"/>
                  <a:gd name="connsiteX2" fmla="*/ 0 w 5959414"/>
                  <a:gd name="connsiteY2" fmla="*/ 216281 h 432561"/>
                  <a:gd name="connsiteX3" fmla="*/ 2979707 w 5959414"/>
                  <a:gd name="connsiteY3" fmla="*/ 0 h 432561"/>
                  <a:gd name="connsiteX4" fmla="*/ 5959415 w 5959414"/>
                  <a:gd name="connsiteY4" fmla="*/ 216281 h 432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414" h="432561">
                    <a:moveTo>
                      <a:pt x="5959415" y="216281"/>
                    </a:moveTo>
                    <a:cubicBezTo>
                      <a:pt x="5959415" y="335713"/>
                      <a:pt x="4625312" y="432561"/>
                      <a:pt x="2979707" y="432561"/>
                    </a:cubicBezTo>
                    <a:cubicBezTo>
                      <a:pt x="1334103" y="432561"/>
                      <a:pt x="0" y="335713"/>
                      <a:pt x="0" y="216281"/>
                    </a:cubicBezTo>
                    <a:cubicBezTo>
                      <a:pt x="0" y="96848"/>
                      <a:pt x="1334103" y="0"/>
                      <a:pt x="2979707" y="0"/>
                    </a:cubicBezTo>
                    <a:cubicBezTo>
                      <a:pt x="4625312" y="203"/>
                      <a:pt x="5959415" y="96848"/>
                      <a:pt x="5959415" y="216281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20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uk-UA"/>
              </a:p>
            </p:txBody>
          </p:sp>
          <p:grpSp>
            <p:nvGrpSpPr>
              <p:cNvPr id="29" name="Графіка 3">
                <a:extLst>
                  <a:ext uri="{FF2B5EF4-FFF2-40B4-BE49-F238E27FC236}">
                    <a16:creationId xmlns:a16="http://schemas.microsoft.com/office/drawing/2014/main" id="{067BBDE0-60DC-4581-93AA-323DD303A257}"/>
                  </a:ext>
                </a:extLst>
              </p:cNvPr>
              <p:cNvGrpSpPr/>
              <p:nvPr/>
            </p:nvGrpSpPr>
            <p:grpSpPr>
              <a:xfrm>
                <a:off x="818828" y="752629"/>
                <a:ext cx="5132543" cy="4562847"/>
                <a:chOff x="818828" y="752629"/>
                <a:chExt cx="5132543" cy="4562847"/>
              </a:xfrm>
            </p:grpSpPr>
            <p:sp>
              <p:nvSpPr>
                <p:cNvPr id="31" name="Полілінія: фігура 30">
                  <a:extLst>
                    <a:ext uri="{FF2B5EF4-FFF2-40B4-BE49-F238E27FC236}">
                      <a16:creationId xmlns:a16="http://schemas.microsoft.com/office/drawing/2014/main" id="{1BF1326B-6AA8-49DD-9409-4DF198FFAA9F}"/>
                    </a:ext>
                  </a:extLst>
                </p:cNvPr>
                <p:cNvSpPr/>
                <p:nvPr/>
              </p:nvSpPr>
              <p:spPr>
                <a:xfrm>
                  <a:off x="818828" y="752629"/>
                  <a:ext cx="5132339" cy="3033014"/>
                </a:xfrm>
                <a:custGeom>
                  <a:avLst/>
                  <a:gdLst>
                    <a:gd name="connsiteX0" fmla="*/ 5132340 w 5132339"/>
                    <a:gd name="connsiteY0" fmla="*/ 3033015 h 3033014"/>
                    <a:gd name="connsiteX1" fmla="*/ 0 w 5132339"/>
                    <a:gd name="connsiteY1" fmla="*/ 3033015 h 3033014"/>
                    <a:gd name="connsiteX2" fmla="*/ 0 w 5132339"/>
                    <a:gd name="connsiteY2" fmla="*/ 305601 h 3033014"/>
                    <a:gd name="connsiteX3" fmla="*/ 305601 w 5132339"/>
                    <a:gd name="connsiteY3" fmla="*/ 0 h 3033014"/>
                    <a:gd name="connsiteX4" fmla="*/ 4847085 w 5132339"/>
                    <a:gd name="connsiteY4" fmla="*/ 0 h 3033014"/>
                    <a:gd name="connsiteX5" fmla="*/ 5132340 w 5132339"/>
                    <a:gd name="connsiteY5" fmla="*/ 285254 h 3033014"/>
                    <a:gd name="connsiteX6" fmla="*/ 5132340 w 5132339"/>
                    <a:gd name="connsiteY6" fmla="*/ 3033015 h 3033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132339" h="3033014">
                      <a:moveTo>
                        <a:pt x="5132340" y="3033015"/>
                      </a:moveTo>
                      <a:lnTo>
                        <a:pt x="0" y="3033015"/>
                      </a:lnTo>
                      <a:lnTo>
                        <a:pt x="0" y="305601"/>
                      </a:lnTo>
                      <a:cubicBezTo>
                        <a:pt x="0" y="137541"/>
                        <a:pt x="137541" y="0"/>
                        <a:pt x="305601" y="0"/>
                      </a:cubicBezTo>
                      <a:lnTo>
                        <a:pt x="4847085" y="0"/>
                      </a:lnTo>
                      <a:cubicBezTo>
                        <a:pt x="5003955" y="0"/>
                        <a:pt x="5132340" y="128385"/>
                        <a:pt x="5132340" y="285254"/>
                      </a:cubicBezTo>
                      <a:lnTo>
                        <a:pt x="5132340" y="3033015"/>
                      </a:lnTo>
                      <a:close/>
                    </a:path>
                  </a:pathLst>
                </a:custGeom>
                <a:solidFill>
                  <a:srgbClr val="182632"/>
                </a:solidFill>
                <a:ln w="20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uk-UA"/>
                </a:p>
              </p:txBody>
            </p:sp>
            <p:sp>
              <p:nvSpPr>
                <p:cNvPr id="32" name="Полілінія: фігура 31">
                  <a:extLst>
                    <a:ext uri="{FF2B5EF4-FFF2-40B4-BE49-F238E27FC236}">
                      <a16:creationId xmlns:a16="http://schemas.microsoft.com/office/drawing/2014/main" id="{79FF7CEF-CC02-401D-AE88-54C2C5B87758}"/>
                    </a:ext>
                  </a:extLst>
                </p:cNvPr>
                <p:cNvSpPr/>
                <p:nvPr/>
              </p:nvSpPr>
              <p:spPr>
                <a:xfrm>
                  <a:off x="818828" y="3785643"/>
                  <a:ext cx="5132543" cy="460028"/>
                </a:xfrm>
                <a:custGeom>
                  <a:avLst/>
                  <a:gdLst>
                    <a:gd name="connsiteX0" fmla="*/ 4672311 w 5132543"/>
                    <a:gd name="connsiteY0" fmla="*/ 460028 h 460028"/>
                    <a:gd name="connsiteX1" fmla="*/ 460029 w 5132543"/>
                    <a:gd name="connsiteY1" fmla="*/ 460028 h 460028"/>
                    <a:gd name="connsiteX2" fmla="*/ 0 w 5132543"/>
                    <a:gd name="connsiteY2" fmla="*/ 0 h 460028"/>
                    <a:gd name="connsiteX3" fmla="*/ 0 w 5132543"/>
                    <a:gd name="connsiteY3" fmla="*/ 0 h 460028"/>
                    <a:gd name="connsiteX4" fmla="*/ 5132544 w 5132543"/>
                    <a:gd name="connsiteY4" fmla="*/ 0 h 460028"/>
                    <a:gd name="connsiteX5" fmla="*/ 5132544 w 5132543"/>
                    <a:gd name="connsiteY5" fmla="*/ 0 h 460028"/>
                    <a:gd name="connsiteX6" fmla="*/ 4672311 w 5132543"/>
                    <a:gd name="connsiteY6" fmla="*/ 460028 h 460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132543" h="460028">
                      <a:moveTo>
                        <a:pt x="4672311" y="460028"/>
                      </a:moveTo>
                      <a:lnTo>
                        <a:pt x="460029" y="460028"/>
                      </a:lnTo>
                      <a:cubicBezTo>
                        <a:pt x="205904" y="460028"/>
                        <a:pt x="0" y="254124"/>
                        <a:pt x="0" y="0"/>
                      </a:cubicBezTo>
                      <a:lnTo>
                        <a:pt x="0" y="0"/>
                      </a:lnTo>
                      <a:lnTo>
                        <a:pt x="5132544" y="0"/>
                      </a:lnTo>
                      <a:lnTo>
                        <a:pt x="5132544" y="0"/>
                      </a:lnTo>
                      <a:cubicBezTo>
                        <a:pt x="5132340" y="254124"/>
                        <a:pt x="4926436" y="460028"/>
                        <a:pt x="4672311" y="4600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uk-UA"/>
                </a:p>
              </p:txBody>
            </p:sp>
            <p:sp>
              <p:nvSpPr>
                <p:cNvPr id="33" name="Полілінія: фігура 32">
                  <a:extLst>
                    <a:ext uri="{FF2B5EF4-FFF2-40B4-BE49-F238E27FC236}">
                      <a16:creationId xmlns:a16="http://schemas.microsoft.com/office/drawing/2014/main" id="{810676FE-5509-4B4E-9FFD-19B13A5A274D}"/>
                    </a:ext>
                  </a:extLst>
                </p:cNvPr>
                <p:cNvSpPr/>
                <p:nvPr/>
              </p:nvSpPr>
              <p:spPr>
                <a:xfrm>
                  <a:off x="2915916" y="4245671"/>
                  <a:ext cx="931247" cy="774988"/>
                </a:xfrm>
                <a:custGeom>
                  <a:avLst/>
                  <a:gdLst>
                    <a:gd name="connsiteX0" fmla="*/ 0 w 931247"/>
                    <a:gd name="connsiteY0" fmla="*/ 0 h 774988"/>
                    <a:gd name="connsiteX1" fmla="*/ 931247 w 931247"/>
                    <a:gd name="connsiteY1" fmla="*/ 0 h 774988"/>
                    <a:gd name="connsiteX2" fmla="*/ 931247 w 931247"/>
                    <a:gd name="connsiteY2" fmla="*/ 774988 h 774988"/>
                    <a:gd name="connsiteX3" fmla="*/ 0 w 931247"/>
                    <a:gd name="connsiteY3" fmla="*/ 774988 h 774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1247" h="774988">
                      <a:moveTo>
                        <a:pt x="0" y="0"/>
                      </a:moveTo>
                      <a:lnTo>
                        <a:pt x="931247" y="0"/>
                      </a:lnTo>
                      <a:lnTo>
                        <a:pt x="931247" y="774988"/>
                      </a:lnTo>
                      <a:lnTo>
                        <a:pt x="0" y="774988"/>
                      </a:lnTo>
                      <a:close/>
                    </a:path>
                  </a:pathLst>
                </a:custGeom>
                <a:solidFill>
                  <a:srgbClr val="E1E1E1"/>
                </a:solidFill>
                <a:ln w="20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uk-UA"/>
                </a:p>
              </p:txBody>
            </p:sp>
            <p:sp>
              <p:nvSpPr>
                <p:cNvPr id="34" name="Полілінія: фігура 33">
                  <a:extLst>
                    <a:ext uri="{FF2B5EF4-FFF2-40B4-BE49-F238E27FC236}">
                      <a16:creationId xmlns:a16="http://schemas.microsoft.com/office/drawing/2014/main" id="{4DC23175-F379-4055-BF6C-3912C6A47010}"/>
                    </a:ext>
                  </a:extLst>
                </p:cNvPr>
                <p:cNvSpPr/>
                <p:nvPr/>
              </p:nvSpPr>
              <p:spPr>
                <a:xfrm>
                  <a:off x="2915916" y="4245671"/>
                  <a:ext cx="931247" cy="245579"/>
                </a:xfrm>
                <a:custGeom>
                  <a:avLst/>
                  <a:gdLst>
                    <a:gd name="connsiteX0" fmla="*/ 0 w 931247"/>
                    <a:gd name="connsiteY0" fmla="*/ 0 h 245579"/>
                    <a:gd name="connsiteX1" fmla="*/ 931247 w 931247"/>
                    <a:gd name="connsiteY1" fmla="*/ 0 h 245579"/>
                    <a:gd name="connsiteX2" fmla="*/ 931247 w 931247"/>
                    <a:gd name="connsiteY2" fmla="*/ 245579 h 245579"/>
                    <a:gd name="connsiteX3" fmla="*/ 0 w 931247"/>
                    <a:gd name="connsiteY3" fmla="*/ 245579 h 245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1247" h="245579">
                      <a:moveTo>
                        <a:pt x="0" y="0"/>
                      </a:moveTo>
                      <a:lnTo>
                        <a:pt x="931247" y="0"/>
                      </a:lnTo>
                      <a:lnTo>
                        <a:pt x="931247" y="245579"/>
                      </a:lnTo>
                      <a:lnTo>
                        <a:pt x="0" y="245579"/>
                      </a:lnTo>
                      <a:close/>
                    </a:path>
                  </a:pathLst>
                </a:custGeom>
                <a:solidFill>
                  <a:srgbClr val="BBBBBB"/>
                </a:solidFill>
                <a:ln w="20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uk-UA"/>
                </a:p>
              </p:txBody>
            </p:sp>
            <p:sp>
              <p:nvSpPr>
                <p:cNvPr id="35" name="Полілінія: фігура 34">
                  <a:extLst>
                    <a:ext uri="{FF2B5EF4-FFF2-40B4-BE49-F238E27FC236}">
                      <a16:creationId xmlns:a16="http://schemas.microsoft.com/office/drawing/2014/main" id="{662BA56E-9AA0-467B-93AC-76108ADA9907}"/>
                    </a:ext>
                  </a:extLst>
                </p:cNvPr>
                <p:cNvSpPr/>
                <p:nvPr/>
              </p:nvSpPr>
              <p:spPr>
                <a:xfrm>
                  <a:off x="2305121" y="5020660"/>
                  <a:ext cx="2153039" cy="294816"/>
                </a:xfrm>
                <a:custGeom>
                  <a:avLst/>
                  <a:gdLst>
                    <a:gd name="connsiteX0" fmla="*/ 2153039 w 2153039"/>
                    <a:gd name="connsiteY0" fmla="*/ 294817 h 294816"/>
                    <a:gd name="connsiteX1" fmla="*/ 0 w 2153039"/>
                    <a:gd name="connsiteY1" fmla="*/ 294817 h 294816"/>
                    <a:gd name="connsiteX2" fmla="*/ 0 w 2153039"/>
                    <a:gd name="connsiteY2" fmla="*/ 244155 h 294816"/>
                    <a:gd name="connsiteX3" fmla="*/ 244155 w 2153039"/>
                    <a:gd name="connsiteY3" fmla="*/ 0 h 294816"/>
                    <a:gd name="connsiteX4" fmla="*/ 1908885 w 2153039"/>
                    <a:gd name="connsiteY4" fmla="*/ 0 h 294816"/>
                    <a:gd name="connsiteX5" fmla="*/ 2153039 w 2153039"/>
                    <a:gd name="connsiteY5" fmla="*/ 244155 h 294816"/>
                    <a:gd name="connsiteX6" fmla="*/ 2153039 w 2153039"/>
                    <a:gd name="connsiteY6" fmla="*/ 294817 h 294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53039" h="294816">
                      <a:moveTo>
                        <a:pt x="2153039" y="294817"/>
                      </a:moveTo>
                      <a:lnTo>
                        <a:pt x="0" y="294817"/>
                      </a:lnTo>
                      <a:lnTo>
                        <a:pt x="0" y="244155"/>
                      </a:lnTo>
                      <a:cubicBezTo>
                        <a:pt x="0" y="109870"/>
                        <a:pt x="109870" y="0"/>
                        <a:pt x="244155" y="0"/>
                      </a:cubicBezTo>
                      <a:lnTo>
                        <a:pt x="1908885" y="0"/>
                      </a:lnTo>
                      <a:cubicBezTo>
                        <a:pt x="2043170" y="0"/>
                        <a:pt x="2153039" y="109870"/>
                        <a:pt x="2153039" y="244155"/>
                      </a:cubicBezTo>
                      <a:lnTo>
                        <a:pt x="2153039" y="2948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0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uk-UA"/>
                </a:p>
              </p:txBody>
            </p:sp>
          </p:grpSp>
          <p:sp>
            <p:nvSpPr>
              <p:cNvPr id="30" name="Полілінія: фігура 29">
                <a:extLst>
                  <a:ext uri="{FF2B5EF4-FFF2-40B4-BE49-F238E27FC236}">
                    <a16:creationId xmlns:a16="http://schemas.microsoft.com/office/drawing/2014/main" id="{D3FCDEE9-1D2C-4071-9E9F-91EC9AE22EE2}"/>
                  </a:ext>
                </a:extLst>
              </p:cNvPr>
              <p:cNvSpPr/>
              <p:nvPr/>
            </p:nvSpPr>
            <p:spPr>
              <a:xfrm>
                <a:off x="3218464" y="3855227"/>
                <a:ext cx="290137" cy="290137"/>
              </a:xfrm>
              <a:custGeom>
                <a:avLst/>
                <a:gdLst>
                  <a:gd name="connsiteX0" fmla="*/ 290137 w 290137"/>
                  <a:gd name="connsiteY0" fmla="*/ 145069 h 290137"/>
                  <a:gd name="connsiteX1" fmla="*/ 145069 w 290137"/>
                  <a:gd name="connsiteY1" fmla="*/ 290138 h 290137"/>
                  <a:gd name="connsiteX2" fmla="*/ 0 w 290137"/>
                  <a:gd name="connsiteY2" fmla="*/ 145069 h 290137"/>
                  <a:gd name="connsiteX3" fmla="*/ 145069 w 290137"/>
                  <a:gd name="connsiteY3" fmla="*/ 0 h 290137"/>
                  <a:gd name="connsiteX4" fmla="*/ 290137 w 290137"/>
                  <a:gd name="connsiteY4" fmla="*/ 145069 h 290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137" h="290137">
                    <a:moveTo>
                      <a:pt x="290137" y="145069"/>
                    </a:moveTo>
                    <a:cubicBezTo>
                      <a:pt x="290137" y="225233"/>
                      <a:pt x="225233" y="290138"/>
                      <a:pt x="145069" y="290138"/>
                    </a:cubicBezTo>
                    <a:cubicBezTo>
                      <a:pt x="64905" y="290138"/>
                      <a:pt x="0" y="225233"/>
                      <a:pt x="0" y="145069"/>
                    </a:cubicBezTo>
                    <a:cubicBezTo>
                      <a:pt x="0" y="64905"/>
                      <a:pt x="64905" y="0"/>
                      <a:pt x="145069" y="0"/>
                    </a:cubicBezTo>
                    <a:cubicBezTo>
                      <a:pt x="225233" y="-203"/>
                      <a:pt x="290137" y="64905"/>
                      <a:pt x="290137" y="145069"/>
                    </a:cubicBezTo>
                    <a:close/>
                  </a:path>
                </a:pathLst>
              </a:custGeom>
              <a:solidFill>
                <a:srgbClr val="BBBBBB"/>
              </a:solidFill>
              <a:ln w="20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uk-UA"/>
              </a:p>
            </p:txBody>
          </p:sp>
        </p:grpSp>
        <p:sp>
          <p:nvSpPr>
            <p:cNvPr id="27" name="Прямокутник: округлені кути 26">
              <a:extLst>
                <a:ext uri="{FF2B5EF4-FFF2-40B4-BE49-F238E27FC236}">
                  <a16:creationId xmlns:a16="http://schemas.microsoft.com/office/drawing/2014/main" id="{8FAAA309-C51A-4F68-97D4-3B53381AD54B}"/>
                </a:ext>
              </a:extLst>
            </p:cNvPr>
            <p:cNvSpPr/>
            <p:nvPr/>
          </p:nvSpPr>
          <p:spPr>
            <a:xfrm>
              <a:off x="1033888" y="973792"/>
              <a:ext cx="4695303" cy="2519272"/>
            </a:xfrm>
            <a:prstGeom prst="roundRect">
              <a:avLst>
                <a:gd name="adj" fmla="val 3560"/>
              </a:avLst>
            </a:prstGeom>
            <a:solidFill>
              <a:srgbClr val="0039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grpSp>
        <p:nvGrpSpPr>
          <p:cNvPr id="36" name="Групувати 35">
            <a:extLst>
              <a:ext uri="{FF2B5EF4-FFF2-40B4-BE49-F238E27FC236}">
                <a16:creationId xmlns:a16="http://schemas.microsoft.com/office/drawing/2014/main" id="{FEB9CA10-F2C2-4755-99BA-7B46F6D24A73}"/>
              </a:ext>
            </a:extLst>
          </p:cNvPr>
          <p:cNvGrpSpPr/>
          <p:nvPr userDrawn="1"/>
        </p:nvGrpSpPr>
        <p:grpSpPr>
          <a:xfrm>
            <a:off x="-15226" y="6550240"/>
            <a:ext cx="4779249" cy="307777"/>
            <a:chOff x="467543" y="6506203"/>
            <a:chExt cx="4779249" cy="30777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56BC319-ABDC-4A00-A4E3-CD9104395191}"/>
                </a:ext>
              </a:extLst>
            </p:cNvPr>
            <p:cNvSpPr txBox="1"/>
            <p:nvPr/>
          </p:nvSpPr>
          <p:spPr>
            <a:xfrm>
              <a:off x="467543" y="6506203"/>
              <a:ext cx="4779249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i="1" dirty="0">
                  <a:solidFill>
                    <a:srgbClr val="19426B"/>
                  </a:solidFill>
                  <a:latin typeface="Verdana"/>
                </a:rPr>
                <a:t>© </a:t>
              </a:r>
              <a:r>
                <a:rPr lang="uk-UA" sz="1400" i="1" dirty="0">
                  <a:solidFill>
                    <a:srgbClr val="19426B"/>
                  </a:solidFill>
                  <a:latin typeface="Verdana"/>
                </a:rPr>
                <a:t>Вивчаємо інформатику        </a:t>
              </a:r>
              <a:r>
                <a:rPr lang="en-US" sz="1400" b="1" i="1" dirty="0">
                  <a:solidFill>
                    <a:srgbClr val="0070C0"/>
                  </a:solidFill>
                  <a:latin typeface="Comic Sans MS" panose="030F0702030302020204" pitchFamily="66" charset="0"/>
                  <a:hlinkClick r:id="rId2" tooltip="Перейти на сайт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teach-inf.com.ua</a:t>
              </a:r>
              <a:endParaRPr lang="ru-RU" sz="1400" b="1" i="1" dirty="0">
                <a:solidFill>
                  <a:srgbClr val="0070C0"/>
                </a:solidFill>
                <a:latin typeface="Comic Sans MS" panose="030F0702030302020204" pitchFamily="66" charset="0"/>
              </a:endParaRPr>
            </a:p>
          </p:txBody>
        </p:sp>
        <p:pic>
          <p:nvPicPr>
            <p:cNvPr id="38" name="Picture 3">
              <a:extLst>
                <a:ext uri="{FF2B5EF4-FFF2-40B4-BE49-F238E27FC236}">
                  <a16:creationId xmlns:a16="http://schemas.microsoft.com/office/drawing/2014/main" id="{9D20550A-E7D1-4F55-8326-33F3EAA8A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021953" y="6552070"/>
              <a:ext cx="325911" cy="1923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" name="Прямокутник 38">
            <a:extLst>
              <a:ext uri="{FF2B5EF4-FFF2-40B4-BE49-F238E27FC236}">
                <a16:creationId xmlns:a16="http://schemas.microsoft.com/office/drawing/2014/main" id="{C51EC337-5DD5-4995-A3FB-4F097944E8EF}"/>
              </a:ext>
            </a:extLst>
          </p:cNvPr>
          <p:cNvSpPr/>
          <p:nvPr userDrawn="1"/>
        </p:nvSpPr>
        <p:spPr>
          <a:xfrm>
            <a:off x="116841" y="79749"/>
            <a:ext cx="1051560" cy="53898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Розділ 1</a:t>
            </a:r>
          </a:p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§ 5</a:t>
            </a:r>
          </a:p>
        </p:txBody>
      </p:sp>
    </p:spTree>
    <p:extLst>
      <p:ext uri="{BB962C8B-B14F-4D97-AF65-F5344CB8AC3E}">
        <p14:creationId xmlns:p14="http://schemas.microsoft.com/office/powerpoint/2010/main" val="171739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9269-1560-433C-88F4-3A78CD881B3D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E948-F03E-4133-ABAE-EC8DE8272D4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2391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і області з вмі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9269-1560-433C-88F4-3A78CD881B3D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E948-F03E-4133-ABAE-EC8DE8272D4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1403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9269-1560-433C-88F4-3A78CD881B3D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E948-F03E-4133-ABAE-EC8DE8272D4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997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9269-1560-433C-88F4-3A78CD881B3D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E948-F03E-4133-ABAE-EC8DE8272D4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459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9269-1560-433C-88F4-3A78CD881B3D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E948-F03E-4133-ABAE-EC8DE8272D4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038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9269-1560-433C-88F4-3A78CD881B3D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E948-F03E-4133-ABAE-EC8DE8272D4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831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9269-1560-433C-88F4-3A78CD881B3D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E948-F03E-4133-ABAE-EC8DE8272D4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389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9269-1560-433C-88F4-3A78CD881B3D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E948-F03E-4133-ABAE-EC8DE8272D4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969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9269-1560-433C-88F4-3A78CD881B3D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E948-F03E-4133-ABAE-EC8DE8272D4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332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E9269-1560-433C-88F4-3A78CD881B3D}" type="datetimeFigureOut">
              <a:rPr lang="uk-UA" smtClean="0"/>
              <a:t>04.08.2022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2E948-F03E-4133-ABAE-EC8DE8272D4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280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ідзаголовок 2"/>
          <p:cNvSpPr>
            <a:spLocks noGrp="1"/>
          </p:cNvSpPr>
          <p:nvPr>
            <p:ph type="subTitle" idx="4294967295"/>
          </p:nvPr>
        </p:nvSpPr>
        <p:spPr>
          <a:xfrm>
            <a:off x="5032382" y="3184362"/>
            <a:ext cx="7138989" cy="403410"/>
          </a:xfrm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uk-UA" sz="1600" b="1" dirty="0">
                <a:solidFill>
                  <a:srgbClr val="FFFFFF"/>
                </a:solidFill>
              </a:rPr>
              <a:t>За навчальною програмою 2017 року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30E221B-C67D-4AC9-B7E9-9D9372A2BE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uk-UA" sz="4000" dirty="0"/>
              <a:t>Інформаційна безпека</a:t>
            </a:r>
            <a:br>
              <a:rPr lang="uk-UA" sz="4000" dirty="0"/>
            </a:br>
            <a:br>
              <a:rPr lang="uk-UA" sz="4000" dirty="0"/>
            </a:br>
            <a:r>
              <a:rPr lang="uk-UA" sz="4000" dirty="0"/>
              <a:t>Практична робота 5</a:t>
            </a: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9BAFD3E2-521A-4F9F-9FDB-D04F62BD1F08}"/>
              </a:ext>
            </a:extLst>
          </p:cNvPr>
          <p:cNvSpPr/>
          <p:nvPr/>
        </p:nvSpPr>
        <p:spPr>
          <a:xfrm>
            <a:off x="2926948" y="2060124"/>
            <a:ext cx="2092407" cy="706854"/>
          </a:xfrm>
          <a:prstGeom prst="rect">
            <a:avLst/>
          </a:prstGeom>
          <a:solidFill>
            <a:srgbClr val="6D6E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Урок 15</a:t>
            </a:r>
          </a:p>
        </p:txBody>
      </p:sp>
      <p:pic>
        <p:nvPicPr>
          <p:cNvPr id="14" name="Picture 2" descr="computer, programmer, scientist icon">
            <a:extLst>
              <a:ext uri="{FF2B5EF4-FFF2-40B4-BE49-F238E27FC236}">
                <a16:creationId xmlns:a16="http://schemas.microsoft.com/office/drawing/2014/main" id="{558B81B1-6C8F-425A-927A-0781797B5A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25" b="14007"/>
          <a:stretch/>
        </p:blipFill>
        <p:spPr bwMode="auto">
          <a:xfrm>
            <a:off x="6040683" y="3918763"/>
            <a:ext cx="3378454" cy="233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information security, pagelock, secure website, website security icon">
            <a:extLst>
              <a:ext uri="{FF2B5EF4-FFF2-40B4-BE49-F238E27FC236}">
                <a16:creationId xmlns:a16="http://schemas.microsoft.com/office/drawing/2014/main" id="{A1529B79-02D7-4CE0-88C5-5C9078051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539" y="3892816"/>
            <a:ext cx="2388704" cy="2388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43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F19DC-0A78-46C2-8E4E-7BF3DA1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 fontScale="90000"/>
          </a:bodyPr>
          <a:lstStyle/>
          <a:p>
            <a:r>
              <a:rPr lang="uk-UA" dirty="0"/>
              <a:t>Яких правил доцільно дотримуватися для безпечної роботи в інтернеті?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09709-D6E8-4D0E-AA52-A0E5B1192C7A}"/>
              </a:ext>
            </a:extLst>
          </p:cNvPr>
          <p:cNvSpPr txBox="1"/>
          <p:nvPr/>
        </p:nvSpPr>
        <p:spPr>
          <a:xfrm>
            <a:off x="72008" y="1196763"/>
            <a:ext cx="5429632" cy="5262979"/>
          </a:xfrm>
          <a:prstGeom prst="rect">
            <a:avLst/>
          </a:prstGeom>
          <a:solidFill>
            <a:srgbClr val="19426B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Ніякі найнадійніші засоби не зможуть гарантувати стовідсотковий захист від комп’ютерних вірусів і троянських програм, але дотримуючись певних правил, можна істотно знизити вірогідність вірусної атаки та ступінь можливих збитків. </a:t>
            </a:r>
            <a:endParaRPr lang="uk-UA" sz="2800" b="1" i="1" kern="0" dirty="0">
              <a:solidFill>
                <a:srgbClr val="FFFFFF"/>
              </a:solidFill>
            </a:endParaRPr>
          </a:p>
        </p:txBody>
      </p:sp>
      <p:pic>
        <p:nvPicPr>
          <p:cNvPr id="15" name="Picture 2" descr="Результат пошуку зображень за запитом &quot;Internet Security&quot;">
            <a:extLst>
              <a:ext uri="{FF2B5EF4-FFF2-40B4-BE49-F238E27FC236}">
                <a16:creationId xmlns:a16="http://schemas.microsoft.com/office/drawing/2014/main" id="{7B44F0F7-5D8B-43E7-9E3F-1202A0BD19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96"/>
          <a:stretch/>
        </p:blipFill>
        <p:spPr bwMode="auto">
          <a:xfrm>
            <a:off x="5661432" y="1196762"/>
            <a:ext cx="6460719" cy="52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77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F19DC-0A78-46C2-8E4E-7BF3DA1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 fontScale="90000"/>
          </a:bodyPr>
          <a:lstStyle/>
          <a:p>
            <a:r>
              <a:rPr lang="uk-UA" dirty="0"/>
              <a:t>Яких правил доцільно дотримуватися для безпечної роботи в інтернеті?</a:t>
            </a:r>
          </a:p>
        </p:txBody>
      </p:sp>
      <p:pic>
        <p:nvPicPr>
          <p:cNvPr id="7" name="Picture 2" descr="Результат пошуку зображень за запитом &quot;Internet Security&quot;">
            <a:extLst>
              <a:ext uri="{FF2B5EF4-FFF2-40B4-BE49-F238E27FC236}">
                <a16:creationId xmlns:a16="http://schemas.microsoft.com/office/drawing/2014/main" id="{0D7B42F8-26CC-40EE-B107-A9D5395275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/>
        </p:blipFill>
        <p:spPr bwMode="auto">
          <a:xfrm>
            <a:off x="69851" y="1196763"/>
            <a:ext cx="6011781" cy="52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FB30B8A7-C259-4026-A04B-493CBEFF9997}"/>
              </a:ext>
            </a:extLst>
          </p:cNvPr>
          <p:cNvSpPr/>
          <p:nvPr/>
        </p:nvSpPr>
        <p:spPr>
          <a:xfrm>
            <a:off x="6261649" y="1196763"/>
            <a:ext cx="5860499" cy="5262978"/>
          </a:xfrm>
          <a:prstGeom prst="rect">
            <a:avLst/>
          </a:prstGeom>
          <a:solidFill>
            <a:srgbClr val="194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Одним з основних методів боротьби з вірусами є, як і в медицині, своєчасна </a:t>
            </a:r>
            <a:r>
              <a:rPr lang="uk-UA" sz="2800" b="1" i="1" kern="0" dirty="0">
                <a:solidFill>
                  <a:srgbClr val="FFFF00"/>
                </a:solidFill>
              </a:rPr>
              <a:t>профілактика</a:t>
            </a:r>
            <a:r>
              <a:rPr lang="uk-UA" sz="2800" b="1" i="1" kern="0" dirty="0">
                <a:solidFill>
                  <a:schemeClr val="bg1"/>
                </a:solidFill>
              </a:rPr>
              <a:t>. Комп’ютерна профілактика складається з невеликої кількості правил, дотримання яких значно знижує вірогідність зараження вірусом і втрати даних.</a:t>
            </a:r>
            <a:endParaRPr lang="uk-UA" sz="2800" b="1" i="1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1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F19DC-0A78-46C2-8E4E-7BF3DA1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 fontScale="90000"/>
          </a:bodyPr>
          <a:lstStyle/>
          <a:p>
            <a:r>
              <a:rPr lang="uk-UA" dirty="0"/>
              <a:t>Яких правил доцільно дотримуватися для безпечної роботи в інтернеті?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420AEF-9A7E-4CE3-B953-88EA6079574B}"/>
              </a:ext>
            </a:extLst>
          </p:cNvPr>
          <p:cNvSpPr txBox="1"/>
          <p:nvPr/>
        </p:nvSpPr>
        <p:spPr>
          <a:xfrm>
            <a:off x="72008" y="1196763"/>
            <a:ext cx="12050142" cy="1384995"/>
          </a:xfrm>
          <a:prstGeom prst="rect">
            <a:avLst/>
          </a:prstGeom>
          <a:solidFill>
            <a:srgbClr val="19426B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lvl="0" indent="457189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З метою профілактики зараження комп’ютерними вірусами користувачеві слід дотримуватися певних рекомендацій. А саме: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563CC-11D8-40E4-8C34-A5AE40640846}"/>
              </a:ext>
            </a:extLst>
          </p:cNvPr>
          <p:cNvSpPr txBox="1"/>
          <p:nvPr/>
        </p:nvSpPr>
        <p:spPr>
          <a:xfrm>
            <a:off x="72008" y="2667754"/>
            <a:ext cx="9310531" cy="1815882"/>
          </a:xfrm>
          <a:prstGeom prst="rect">
            <a:avLst/>
          </a:prstGeom>
          <a:solidFill>
            <a:srgbClr val="00800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необхідно використовувати надійні джерела програмного забезпечення для свого комп’ютера, купувати його лише в офіційних продавців;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2FFB293-7434-4E09-B78D-363E37355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617" y="2667754"/>
            <a:ext cx="1958009" cy="1958009"/>
          </a:xfrm>
          <a:prstGeom prst="rect">
            <a:avLst/>
          </a:prstGeom>
        </p:spPr>
      </p:pic>
      <p:pic>
        <p:nvPicPr>
          <p:cNvPr id="11" name="Picture 2" descr="antivirus, monitor, safety, shield icon">
            <a:extLst>
              <a:ext uri="{FF2B5EF4-FFF2-40B4-BE49-F238E27FC236}">
                <a16:creationId xmlns:a16="http://schemas.microsoft.com/office/drawing/2014/main" id="{7CCE38C2-B171-41C2-947D-BA9B2A1AC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617" y="4569632"/>
            <a:ext cx="1910681" cy="191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73816162-B095-4000-B515-00D595B071C9}"/>
              </a:ext>
            </a:extLst>
          </p:cNvPr>
          <p:cNvSpPr/>
          <p:nvPr/>
        </p:nvSpPr>
        <p:spPr>
          <a:xfrm>
            <a:off x="72008" y="4569982"/>
            <a:ext cx="9310530" cy="181588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перевіряти за допомогою антивірусних програм файли, які надходять ззовні (з дисків, інтернету) до комп’ютера;</a:t>
            </a:r>
          </a:p>
        </p:txBody>
      </p:sp>
    </p:spTree>
    <p:extLst>
      <p:ext uri="{BB962C8B-B14F-4D97-AF65-F5344CB8AC3E}">
        <p14:creationId xmlns:p14="http://schemas.microsoft.com/office/powerpoint/2010/main" val="336263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F19DC-0A78-46C2-8E4E-7BF3DA1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 fontScale="90000"/>
          </a:bodyPr>
          <a:lstStyle/>
          <a:p>
            <a:r>
              <a:rPr lang="uk-UA" dirty="0"/>
              <a:t>Яких правил доцільно дотримуватися для безпечної роботи в інтернеті?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450B3-90B0-426D-9849-C9A08A86AB32}"/>
              </a:ext>
            </a:extLst>
          </p:cNvPr>
          <p:cNvSpPr txBox="1"/>
          <p:nvPr/>
        </p:nvSpPr>
        <p:spPr>
          <a:xfrm>
            <a:off x="70929" y="1196763"/>
            <a:ext cx="12050142" cy="523220"/>
          </a:xfrm>
          <a:prstGeom prst="rect">
            <a:avLst/>
          </a:prstGeom>
          <a:solidFill>
            <a:srgbClr val="19426B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lvl="0" indent="457189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Продовження…</a:t>
            </a:r>
            <a:endParaRPr lang="uk-UA" sz="2800" b="1" i="1" kern="0" dirty="0">
              <a:solidFill>
                <a:srgbClr val="FFFFFF"/>
              </a:solidFill>
            </a:endParaRPr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5A472A84-3CA9-45B1-BDA8-3EEC73E2BEF5}"/>
              </a:ext>
            </a:extLst>
          </p:cNvPr>
          <p:cNvSpPr/>
          <p:nvPr/>
        </p:nvSpPr>
        <p:spPr>
          <a:xfrm>
            <a:off x="72009" y="1846758"/>
            <a:ext cx="9310530" cy="1466714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обмежити доступ сторонніх осіб до комп'ютера;</a:t>
            </a: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288C10B1-4600-46B3-9242-275331B7FD51}"/>
              </a:ext>
            </a:extLst>
          </p:cNvPr>
          <p:cNvSpPr/>
          <p:nvPr/>
        </p:nvSpPr>
        <p:spPr>
          <a:xfrm>
            <a:off x="72008" y="3454370"/>
            <a:ext cx="9310530" cy="1466714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регулярно створювати резервні копії важливих даних;</a:t>
            </a: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32AE9B6C-7EF7-4DFC-9254-1EAC8C284F4C}"/>
              </a:ext>
            </a:extLst>
          </p:cNvPr>
          <p:cNvSpPr/>
          <p:nvPr/>
        </p:nvSpPr>
        <p:spPr>
          <a:xfrm>
            <a:off x="72008" y="5056177"/>
            <a:ext cx="9310530" cy="1466714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періодично перевіряти комп’ютер на наявність вірусів з використанням нових версій антивірусних програм;</a:t>
            </a:r>
          </a:p>
        </p:txBody>
      </p:sp>
      <p:pic>
        <p:nvPicPr>
          <p:cNvPr id="14" name="Picture 2" descr="person, running, walking icon">
            <a:extLst>
              <a:ext uri="{FF2B5EF4-FFF2-40B4-BE49-F238E27FC236}">
                <a16:creationId xmlns:a16="http://schemas.microsoft.com/office/drawing/2014/main" id="{5C3A5A48-43DF-4A60-89AA-E4094D7A2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146" y="1839274"/>
            <a:ext cx="1466714" cy="146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back up, backup, drive, external, machine, storage, time icon">
            <a:extLst>
              <a:ext uri="{FF2B5EF4-FFF2-40B4-BE49-F238E27FC236}">
                <a16:creationId xmlns:a16="http://schemas.microsoft.com/office/drawing/2014/main" id="{4BF27140-EEB7-44BF-BCA6-6570DBC77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146" y="3425279"/>
            <a:ext cx="1495805" cy="149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Результат пошуку зображень за запитом &quot;email спам&quot;">
            <a:extLst>
              <a:ext uri="{FF2B5EF4-FFF2-40B4-BE49-F238E27FC236}">
                <a16:creationId xmlns:a16="http://schemas.microsoft.com/office/drawing/2014/main" id="{75B1D8B6-7BE1-443D-9BBC-BC014E4240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9" r="12087"/>
          <a:stretch/>
        </p:blipFill>
        <p:spPr bwMode="auto">
          <a:xfrm>
            <a:off x="9883683" y="5056177"/>
            <a:ext cx="1910731" cy="146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87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F19DC-0A78-46C2-8E4E-7BF3DA1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 fontScale="90000"/>
          </a:bodyPr>
          <a:lstStyle/>
          <a:p>
            <a:r>
              <a:rPr lang="uk-UA" dirty="0"/>
              <a:t>Яких правил доцільно дотримуватися для безпечної роботи в інтернеті?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9DBC09-0D8B-4BFB-88C6-262F5348FF4A}"/>
              </a:ext>
            </a:extLst>
          </p:cNvPr>
          <p:cNvSpPr txBox="1"/>
          <p:nvPr/>
        </p:nvSpPr>
        <p:spPr>
          <a:xfrm>
            <a:off x="70929" y="1196763"/>
            <a:ext cx="12050142" cy="523220"/>
          </a:xfrm>
          <a:prstGeom prst="rect">
            <a:avLst/>
          </a:prstGeom>
          <a:solidFill>
            <a:srgbClr val="19426B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lvl="0" indent="457189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Продовження…</a:t>
            </a:r>
            <a:endParaRPr lang="uk-UA" sz="2800" b="1" i="1" kern="0" dirty="0">
              <a:solidFill>
                <a:srgbClr val="FFFFFF"/>
              </a:solidFill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75B70F1C-AFBB-4E31-8093-68425CF95CD1}"/>
              </a:ext>
            </a:extLst>
          </p:cNvPr>
          <p:cNvSpPr/>
          <p:nvPr/>
        </p:nvSpPr>
        <p:spPr>
          <a:xfrm>
            <a:off x="72009" y="1846758"/>
            <a:ext cx="9310530" cy="197799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uk-UA" sz="3000" b="1" i="1" kern="0" dirty="0">
                <a:solidFill>
                  <a:schemeClr val="bg1"/>
                </a:solidFill>
              </a:rPr>
              <a:t>не відкривати вкладення електронної пошти, які були надіслані від невідомих вам адресатів;</a:t>
            </a:r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EC8D658C-A154-46FC-99A1-F3CBE046DA54}"/>
              </a:ext>
            </a:extLst>
          </p:cNvPr>
          <p:cNvSpPr/>
          <p:nvPr/>
        </p:nvSpPr>
        <p:spPr>
          <a:xfrm>
            <a:off x="70929" y="3949396"/>
            <a:ext cx="9310530" cy="197799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uk-UA" sz="3000" b="1" i="1" kern="0" dirty="0">
                <a:solidFill>
                  <a:schemeClr val="bg1"/>
                </a:solidFill>
              </a:rPr>
              <a:t>не завантажувати з інтернету файли з розширенням </a:t>
            </a:r>
            <a:r>
              <a:rPr lang="uk-UA" sz="3000" b="1" i="1" kern="0" dirty="0" err="1">
                <a:solidFill>
                  <a:srgbClr val="FFFF00"/>
                </a:solidFill>
              </a:rPr>
              <a:t>exe</a:t>
            </a:r>
            <a:r>
              <a:rPr lang="uk-UA" sz="3000" b="1" i="1" kern="0" dirty="0">
                <a:solidFill>
                  <a:schemeClr val="bg1"/>
                </a:solidFill>
              </a:rPr>
              <a:t> з неперевірених сайтів.</a:t>
            </a:r>
            <a:endParaRPr lang="uk-UA" sz="3000" b="1" i="1" kern="0" dirty="0">
              <a:solidFill>
                <a:srgbClr val="FFFFFF"/>
              </a:solidFill>
            </a:endParaRPr>
          </a:p>
        </p:txBody>
      </p:sp>
      <p:pic>
        <p:nvPicPr>
          <p:cNvPr id="11" name="Picture 2" descr="attachment, email, inbox icon">
            <a:extLst>
              <a:ext uri="{FF2B5EF4-FFF2-40B4-BE49-F238E27FC236}">
                <a16:creationId xmlns:a16="http://schemas.microsoft.com/office/drawing/2014/main" id="{25B5EB2C-7D2D-4D15-A184-AABE8E83D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2753" y="1846758"/>
            <a:ext cx="1849687" cy="184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document, exe, file icon">
            <a:extLst>
              <a:ext uri="{FF2B5EF4-FFF2-40B4-BE49-F238E27FC236}">
                <a16:creationId xmlns:a16="http://schemas.microsoft.com/office/drawing/2014/main" id="{74A09AE5-2D7F-4A4E-9B02-6CC144B34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399" y="3696445"/>
            <a:ext cx="2339592" cy="233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21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F19DC-0A78-46C2-8E4E-7BF3DA1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 fontScale="90000"/>
          </a:bodyPr>
          <a:lstStyle/>
          <a:p>
            <a:r>
              <a:rPr lang="uk-UA" dirty="0"/>
              <a:t>Яких правил доцільно дотримуватися для безпечної роботи в інтернеті?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12559-104C-446F-BA46-DD1CE41066CC}"/>
              </a:ext>
            </a:extLst>
          </p:cNvPr>
          <p:cNvSpPr txBox="1"/>
          <p:nvPr/>
        </p:nvSpPr>
        <p:spPr>
          <a:xfrm>
            <a:off x="72008" y="1196763"/>
            <a:ext cx="12050142" cy="2246769"/>
          </a:xfrm>
          <a:prstGeom prst="rect">
            <a:avLst/>
          </a:prstGeom>
          <a:solidFill>
            <a:srgbClr val="19426B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lvl="0" indent="457189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Часто шкідливі програми можуть потрапляти на комп’ютер через </a:t>
            </a:r>
            <a:r>
              <a:rPr lang="uk-UA" sz="2800" b="1" i="1" kern="0" dirty="0">
                <a:solidFill>
                  <a:srgbClr val="FFFF00"/>
                </a:solidFill>
              </a:rPr>
              <a:t>спам</a:t>
            </a:r>
            <a:r>
              <a:rPr lang="uk-UA" sz="2800" b="1" i="1" kern="0" dirty="0">
                <a:solidFill>
                  <a:schemeClr val="bg1"/>
                </a:solidFill>
              </a:rPr>
              <a:t>. Найнадійніший спосіб боротьби зі спамом — не дозволити </a:t>
            </a:r>
            <a:r>
              <a:rPr lang="uk-UA" sz="2800" b="1" i="1" kern="0" dirty="0" err="1">
                <a:solidFill>
                  <a:schemeClr val="bg1"/>
                </a:solidFill>
              </a:rPr>
              <a:t>спамерам</a:t>
            </a:r>
            <a:r>
              <a:rPr lang="uk-UA" sz="2800" b="1" i="1" kern="0" dirty="0">
                <a:solidFill>
                  <a:schemeClr val="bg1"/>
                </a:solidFill>
              </a:rPr>
              <a:t> довідатися вашу електронну адресу. Для цього доцільно дотримуватися таких правил.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17DD88-B341-43A8-B8FB-05DE37DB9C00}"/>
              </a:ext>
            </a:extLst>
          </p:cNvPr>
          <p:cNvSpPr txBox="1"/>
          <p:nvPr/>
        </p:nvSpPr>
        <p:spPr>
          <a:xfrm>
            <a:off x="72009" y="3585723"/>
            <a:ext cx="5847010" cy="2677656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Не варто без необхідності публікувати адресу електронної пошти на </a:t>
            </a:r>
            <a:r>
              <a:rPr lang="uk-UA" sz="2800" b="1" i="1" kern="0" dirty="0" err="1">
                <a:solidFill>
                  <a:schemeClr val="bg1"/>
                </a:solidFill>
              </a:rPr>
              <a:t>вебсайтах</a:t>
            </a:r>
            <a:r>
              <a:rPr lang="uk-UA" sz="2800" b="1" i="1" kern="0" dirty="0">
                <a:solidFill>
                  <a:schemeClr val="bg1"/>
                </a:solidFill>
              </a:rPr>
              <a:t> чи в групах новин.</a:t>
            </a:r>
          </a:p>
        </p:txBody>
      </p:sp>
      <p:pic>
        <p:nvPicPr>
          <p:cNvPr id="8" name="Picture 2" descr="Пов’язане зображення">
            <a:extLst>
              <a:ext uri="{FF2B5EF4-FFF2-40B4-BE49-F238E27FC236}">
                <a16:creationId xmlns:a16="http://schemas.microsoft.com/office/drawing/2014/main" id="{ED99B7C0-7CF1-4706-AC68-12882A56A1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" b="29803"/>
          <a:stretch/>
        </p:blipFill>
        <p:spPr bwMode="auto">
          <a:xfrm>
            <a:off x="6096000" y="3585723"/>
            <a:ext cx="6026150" cy="267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13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F19DC-0A78-46C2-8E4E-7BF3DA1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 fontScale="90000"/>
          </a:bodyPr>
          <a:lstStyle/>
          <a:p>
            <a:r>
              <a:rPr lang="uk-UA" dirty="0"/>
              <a:t>Яких правил доцільно дотримуватися для безпечної роботи в інтернеті?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50F83-E6C4-4E4E-ADB3-D89601342517}"/>
              </a:ext>
            </a:extLst>
          </p:cNvPr>
          <p:cNvSpPr txBox="1"/>
          <p:nvPr/>
        </p:nvSpPr>
        <p:spPr>
          <a:xfrm>
            <a:off x="72008" y="1196763"/>
            <a:ext cx="12050142" cy="523220"/>
          </a:xfrm>
          <a:prstGeom prst="rect">
            <a:avLst/>
          </a:prstGeom>
          <a:solidFill>
            <a:srgbClr val="19426B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lvl="0" indent="457189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Продовження…</a:t>
            </a:r>
            <a:endParaRPr lang="uk-UA" sz="2800" b="1" i="1" kern="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496FE-3A07-4669-B0AD-1537E65D5120}"/>
              </a:ext>
            </a:extLst>
          </p:cNvPr>
          <p:cNvSpPr txBox="1"/>
          <p:nvPr/>
        </p:nvSpPr>
        <p:spPr>
          <a:xfrm>
            <a:off x="72008" y="1806681"/>
            <a:ext cx="9429801" cy="1815882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457200" lvl="0" indent="-4572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Не потрібно реєструватися на підозрілих сайтах. Якщо деякий корисний сайт вимагає реєстрації, можна вказати спеціально для цього створену адресу.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7D6F4-E90F-421E-BED0-29D51147337E}"/>
              </a:ext>
            </a:extLst>
          </p:cNvPr>
          <p:cNvSpPr txBox="1"/>
          <p:nvPr/>
        </p:nvSpPr>
        <p:spPr>
          <a:xfrm>
            <a:off x="72008" y="3709261"/>
            <a:ext cx="9429801" cy="2677656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457200" lvl="0" indent="-45720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Ніколи не відповідати на спам і не переходити за посиланнями, які містяться в ньому. Цим ви тільки підтвердите, що користуєтеся своєю електронною адресою і будете одержувати ще більше спаму.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B91221C-570E-4572-941E-9C37F50FA9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7"/>
          <a:stretch/>
        </p:blipFill>
        <p:spPr>
          <a:xfrm>
            <a:off x="9577612" y="1801824"/>
            <a:ext cx="2489295" cy="1820739"/>
          </a:xfrm>
          <a:prstGeom prst="rect">
            <a:avLst/>
          </a:prstGeom>
        </p:spPr>
      </p:pic>
      <p:pic>
        <p:nvPicPr>
          <p:cNvPr id="11" name="Picture 4" descr="email, mail, message, new, notification icon">
            <a:extLst>
              <a:ext uri="{FF2B5EF4-FFF2-40B4-BE49-F238E27FC236}">
                <a16:creationId xmlns:a16="http://schemas.microsoft.com/office/drawing/2014/main" id="{03A45020-DE33-4EA3-8F90-13AE6DF1E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1675" y="3692851"/>
            <a:ext cx="2710475" cy="271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54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F19DC-0A78-46C2-8E4E-7BF3DA1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 fontScale="90000"/>
          </a:bodyPr>
          <a:lstStyle/>
          <a:p>
            <a:r>
              <a:rPr lang="uk-UA" dirty="0"/>
              <a:t>Яких правил доцільно дотримуватися для безпечної роботи в інтернеті?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FBA3E-B87E-4339-9AAF-92A5BA092E30}"/>
              </a:ext>
            </a:extLst>
          </p:cNvPr>
          <p:cNvSpPr txBox="1"/>
          <p:nvPr/>
        </p:nvSpPr>
        <p:spPr>
          <a:xfrm>
            <a:off x="72008" y="1196763"/>
            <a:ext cx="12050142" cy="523220"/>
          </a:xfrm>
          <a:prstGeom prst="rect">
            <a:avLst/>
          </a:prstGeom>
          <a:solidFill>
            <a:srgbClr val="19426B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lvl="0" indent="457189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Продовження…</a:t>
            </a:r>
            <a:endParaRPr lang="uk-UA" sz="2800" b="1" i="1" kern="0" dirty="0">
              <a:solidFill>
                <a:srgbClr val="FFFFFF"/>
              </a:solidFill>
            </a:endParaRPr>
          </a:p>
        </p:txBody>
      </p:sp>
      <p:pic>
        <p:nvPicPr>
          <p:cNvPr id="8" name="Picture 2" descr="Результат пошуку зображень за запитом &quot;email&quot;">
            <a:extLst>
              <a:ext uri="{FF2B5EF4-FFF2-40B4-BE49-F238E27FC236}">
                <a16:creationId xmlns:a16="http://schemas.microsoft.com/office/drawing/2014/main" id="{9FCEA3C8-B4A9-42EA-892D-871F7C8E3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339" y="1830105"/>
            <a:ext cx="7768811" cy="397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51451CD4-E33A-46C7-A66B-DFFB64F11177}"/>
              </a:ext>
            </a:extLst>
          </p:cNvPr>
          <p:cNvSpPr/>
          <p:nvPr/>
        </p:nvSpPr>
        <p:spPr>
          <a:xfrm>
            <a:off x="72009" y="1830105"/>
            <a:ext cx="4144238" cy="39751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Вибираючи собі ім’я електронної пошти варто, за можливості, обирати довге й незручне для вгадування ім’я.</a:t>
            </a:r>
          </a:p>
        </p:txBody>
      </p:sp>
    </p:spTree>
    <p:extLst>
      <p:ext uri="{BB962C8B-B14F-4D97-AF65-F5344CB8AC3E}">
        <p14:creationId xmlns:p14="http://schemas.microsoft.com/office/powerpoint/2010/main" val="299992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F19DC-0A78-46C2-8E4E-7BF3DA1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 fontScale="90000"/>
          </a:bodyPr>
          <a:lstStyle/>
          <a:p>
            <a:r>
              <a:rPr lang="uk-UA" dirty="0"/>
              <a:t>Яких правил доцільно дотримуватися для безпечної роботи в інтернеті?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450B3-90B0-426D-9849-C9A08A86AB32}"/>
              </a:ext>
            </a:extLst>
          </p:cNvPr>
          <p:cNvSpPr txBox="1"/>
          <p:nvPr/>
        </p:nvSpPr>
        <p:spPr>
          <a:xfrm>
            <a:off x="72008" y="1196763"/>
            <a:ext cx="12050142" cy="1384995"/>
          </a:xfrm>
          <a:prstGeom prst="rect">
            <a:avLst/>
          </a:prstGeom>
          <a:solidFill>
            <a:srgbClr val="19426B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lvl="0" indent="457189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Важливо розуміти також загрози, які спрямовані не тільки на інформаційну систему, а й на самих користувачів, зокрема </a:t>
            </a:r>
            <a:r>
              <a:rPr lang="uk-UA" sz="2800" b="1" i="1" kern="0" dirty="0" err="1">
                <a:solidFill>
                  <a:srgbClr val="FFFF00"/>
                </a:solidFill>
              </a:rPr>
              <a:t>кібербулінг</a:t>
            </a:r>
            <a:r>
              <a:rPr lang="uk-UA" sz="2800" b="1" i="1" kern="0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DDDC39B-E7D7-4475-B7BD-EFD2D8706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31040" y="2701091"/>
            <a:ext cx="1434688" cy="143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yber bullying concept. Depressed woman sitting on the floor. Opinion and  the pressure of society. Shame. Vector flat 2788686 Vector Art at Vecteezy">
            <a:extLst>
              <a:ext uri="{FF2B5EF4-FFF2-40B4-BE49-F238E27FC236}">
                <a16:creationId xmlns:a16="http://schemas.microsoft.com/office/drawing/2014/main" id="{29B09720-69D7-425D-8198-81C0FAAADB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" b="17491"/>
          <a:stretch/>
        </p:blipFill>
        <p:spPr bwMode="auto">
          <a:xfrm>
            <a:off x="5584723" y="2701091"/>
            <a:ext cx="6537426" cy="344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E9E3C232-F33D-41E4-9BA7-365B0F3196CD}"/>
              </a:ext>
            </a:extLst>
          </p:cNvPr>
          <p:cNvSpPr/>
          <p:nvPr/>
        </p:nvSpPr>
        <p:spPr>
          <a:xfrm>
            <a:off x="1403647" y="2701091"/>
            <a:ext cx="3964765" cy="3448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3200" b="1" i="1" kern="0" dirty="0" err="1">
                <a:solidFill>
                  <a:srgbClr val="FFFF00"/>
                </a:solidFill>
              </a:rPr>
              <a:t>Кібербулінг</a:t>
            </a:r>
            <a:r>
              <a:rPr lang="uk-UA" sz="3200" b="1" i="1" kern="0" dirty="0">
                <a:solidFill>
                  <a:schemeClr val="bg1"/>
                </a:solidFill>
              </a:rPr>
              <a:t> — це цькування із застосуванням цифрових технологій.</a:t>
            </a:r>
            <a:endParaRPr lang="uk-UA" sz="3200" b="1" i="1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32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F19DC-0A78-46C2-8E4E-7BF3DA1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 fontScale="90000"/>
          </a:bodyPr>
          <a:lstStyle/>
          <a:p>
            <a:r>
              <a:rPr lang="uk-UA" dirty="0"/>
              <a:t>Яких правил доцільно дотримуватися для безпечної роботи в інтернеті?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450B3-90B0-426D-9849-C9A08A86AB32}"/>
              </a:ext>
            </a:extLst>
          </p:cNvPr>
          <p:cNvSpPr txBox="1"/>
          <p:nvPr/>
        </p:nvSpPr>
        <p:spPr>
          <a:xfrm>
            <a:off x="72009" y="1196763"/>
            <a:ext cx="7724972" cy="2677656"/>
          </a:xfrm>
          <a:prstGeom prst="rect">
            <a:avLst/>
          </a:prstGeom>
          <a:solidFill>
            <a:srgbClr val="19426B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uk-UA" sz="2800" b="1" i="1" kern="0" dirty="0" err="1">
                <a:solidFill>
                  <a:srgbClr val="FFFF00"/>
                </a:solidFill>
              </a:rPr>
              <a:t>Кібербулінг</a:t>
            </a:r>
            <a:r>
              <a:rPr lang="uk-UA" sz="2800" b="1" i="1" kern="0" dirty="0">
                <a:solidFill>
                  <a:schemeClr val="bg1"/>
                </a:solidFill>
              </a:rPr>
              <a:t> може відбуватися в соціальних мережах, платформах обміну повідомленнями (месенджерах), ігрових платформах і мобільних телефонах, зокрема через: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DA50C-DD54-4D9A-8622-2470753C28DA}"/>
              </a:ext>
            </a:extLst>
          </p:cNvPr>
          <p:cNvSpPr txBox="1"/>
          <p:nvPr/>
        </p:nvSpPr>
        <p:spPr>
          <a:xfrm>
            <a:off x="72008" y="4000688"/>
            <a:ext cx="7724973" cy="138499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457200" lvl="0" indent="-4572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поширення брехні чи розміщення фотографій, які компрометують когось у соціальних мережах;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D99B5-7946-41FD-AEC2-AE9EFB8B0BD3}"/>
              </a:ext>
            </a:extLst>
          </p:cNvPr>
          <p:cNvSpPr txBox="1"/>
          <p:nvPr/>
        </p:nvSpPr>
        <p:spPr>
          <a:xfrm>
            <a:off x="72008" y="5516588"/>
            <a:ext cx="12050142" cy="95410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457200" lvl="0" indent="-4572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uk-UA" sz="2800" b="1" i="1" kern="0" dirty="0">
                <a:solidFill>
                  <a:schemeClr val="bg1"/>
                </a:solidFill>
              </a:rPr>
              <a:t>повідомлення чи погрози, які ображають когось або можуть завдати комусь шкоди.</a:t>
            </a:r>
          </a:p>
        </p:txBody>
      </p:sp>
      <p:pic>
        <p:nvPicPr>
          <p:cNvPr id="2052" name="Picture 4" descr="Кибер издевательства Бесплатные векторы">
            <a:extLst>
              <a:ext uri="{FF2B5EF4-FFF2-40B4-BE49-F238E27FC236}">
                <a16:creationId xmlns:a16="http://schemas.microsoft.com/office/drawing/2014/main" id="{C7EC82FD-34D6-4963-92B3-DD6BE2F1E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436" y="1192128"/>
            <a:ext cx="4193555" cy="419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14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/>
          </a:bodyPr>
          <a:lstStyle/>
          <a:p>
            <a:r>
              <a:rPr lang="uk-UA" dirty="0"/>
              <a:t>Розгадайте ребус</a:t>
            </a:r>
          </a:p>
        </p:txBody>
      </p:sp>
      <p:pic>
        <p:nvPicPr>
          <p:cNvPr id="17" name="Picture 2" descr="http://www.zarobytyhroshi.com/images/243_1c7236e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7977" y="5301208"/>
            <a:ext cx="1561356" cy="156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4700501" y="5445224"/>
            <a:ext cx="6179706" cy="1021556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5400" b="1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Times New Roman" panose="02020603050405020304" pitchFamily="18" charset="0"/>
              </a:rPr>
              <a:t>Булінг</a:t>
            </a:r>
            <a:endParaRPr kumimoji="0" lang="uk-UA" sz="54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19293" y="6525344"/>
            <a:ext cx="4570040" cy="340519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4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Times New Roman" panose="02020603050405020304" pitchFamily="18" charset="0"/>
              </a:rPr>
              <a:t>«Ребуси українською» 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Times New Roman" panose="02020603050405020304" pitchFamily="18" charset="0"/>
              </a:rPr>
              <a:t>©</a:t>
            </a:r>
            <a:r>
              <a:rPr kumimoji="0" lang="uk-UA" sz="14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Times New Roman" panose="02020603050405020304" pitchFamily="18" charset="0"/>
              </a:rPr>
              <a:t>rebus1.com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FB5FAE-FDCD-49AB-B90D-5A9EBF732F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2"/>
          <a:stretch/>
        </p:blipFill>
        <p:spPr>
          <a:xfrm>
            <a:off x="527474" y="1778940"/>
            <a:ext cx="11137051" cy="361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3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/>
          </a:bodyPr>
          <a:lstStyle/>
          <a:p>
            <a:r>
              <a:rPr lang="uk-UA" dirty="0"/>
              <a:t>Домашнє завдання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98003" y="1272161"/>
            <a:ext cx="4659626" cy="53478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69854" y="2133942"/>
            <a:ext cx="4663795" cy="1191816"/>
          </a:xfrm>
          <a:prstGeom prst="wedgeRoundRectCallout">
            <a:avLst>
              <a:gd name="adj1" fmla="val -59508"/>
              <a:gd name="adj2" fmla="val 126275"/>
              <a:gd name="adj3" fmla="val 16667"/>
            </a:avLst>
          </a:prstGeom>
          <a:gradFill rotWithShape="1">
            <a:gsLst>
              <a:gs pos="0">
                <a:srgbClr val="19426B">
                  <a:satMod val="103000"/>
                  <a:lumMod val="102000"/>
                  <a:tint val="94000"/>
                </a:srgbClr>
              </a:gs>
              <a:gs pos="50000">
                <a:srgbClr val="19426B">
                  <a:satMod val="110000"/>
                  <a:lumMod val="100000"/>
                  <a:shade val="100000"/>
                </a:srgbClr>
              </a:gs>
              <a:gs pos="100000">
                <a:srgbClr val="19426B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Проаналізувати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§ 5, </a:t>
            </a:r>
            <a:r>
              <a:rPr kumimoji="0" lang="uk-UA" sz="3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с. 56-</a:t>
            </a:r>
            <a:r>
              <a:rPr lang="uk-UA" sz="3200" i="1" kern="0" noProof="0" dirty="0">
                <a:solidFill>
                  <a:srgbClr val="FFFFFF"/>
                </a:solidFill>
                <a:latin typeface="Verdana"/>
              </a:rPr>
              <a:t>59</a:t>
            </a:r>
            <a:endParaRPr kumimoji="0" lang="uk-UA" sz="3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08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/>
          </a:bodyPr>
          <a:lstStyle/>
          <a:p>
            <a:r>
              <a:rPr lang="uk-UA" dirty="0"/>
              <a:t>Працюємо за комп’ютером</a:t>
            </a:r>
          </a:p>
        </p:txBody>
      </p:sp>
      <p:sp>
        <p:nvSpPr>
          <p:cNvPr id="7" name="Блок-схема: кілька документів 6"/>
          <p:cNvSpPr/>
          <p:nvPr/>
        </p:nvSpPr>
        <p:spPr>
          <a:xfrm>
            <a:off x="395536" y="1484784"/>
            <a:ext cx="11331174" cy="2016224"/>
          </a:xfrm>
          <a:prstGeom prst="flowChartMultidocument">
            <a:avLst/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b="1" i="1" dirty="0"/>
              <a:t>Практична робота </a:t>
            </a:r>
            <a:r>
              <a:rPr lang="uk-UA" sz="4400" b="1" i="1" dirty="0"/>
              <a:t>5</a:t>
            </a:r>
          </a:p>
        </p:txBody>
      </p:sp>
      <p:sp>
        <p:nvSpPr>
          <p:cNvPr id="8" name="Блок-схема: збережені дані 7"/>
          <p:cNvSpPr/>
          <p:nvPr/>
        </p:nvSpPr>
        <p:spPr>
          <a:xfrm>
            <a:off x="107504" y="3645024"/>
            <a:ext cx="11387810" cy="2592288"/>
          </a:xfrm>
          <a:prstGeom prst="flowChartOnlineStorage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5400" b="1" i="1" dirty="0">
                <a:solidFill>
                  <a:srgbClr val="002060"/>
                </a:solidFill>
              </a:rPr>
              <a:t>Інформаційна безпека</a:t>
            </a:r>
          </a:p>
        </p:txBody>
      </p:sp>
      <p:pic>
        <p:nvPicPr>
          <p:cNvPr id="11" name="Picture 2" descr="computer, programmer, scientist icon">
            <a:extLst>
              <a:ext uri="{FF2B5EF4-FFF2-40B4-BE49-F238E27FC236}">
                <a16:creationId xmlns:a16="http://schemas.microsoft.com/office/drawing/2014/main" id="{F1F1D441-8D96-41AF-B83E-F99AB9A87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25" b="14007"/>
          <a:stretch/>
        </p:blipFill>
        <p:spPr bwMode="auto">
          <a:xfrm>
            <a:off x="9637812" y="4113715"/>
            <a:ext cx="2328636" cy="161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66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0688" y="162512"/>
            <a:ext cx="9053954" cy="532820"/>
          </a:xfrm>
        </p:spPr>
        <p:txBody>
          <a:bodyPr>
            <a:normAutofit/>
          </a:bodyPr>
          <a:lstStyle/>
          <a:p>
            <a:r>
              <a:rPr lang="uk-UA" sz="3100" dirty="0"/>
              <a:t>Працюємо за комп’ютером</a:t>
            </a:r>
            <a:endParaRPr lang="uk-UA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59" y="1272161"/>
            <a:ext cx="4659626" cy="5347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89511" y="2133942"/>
            <a:ext cx="3233804" cy="1191816"/>
          </a:xfrm>
          <a:prstGeom prst="wedgeRoundRectCallout">
            <a:avLst>
              <a:gd name="adj1" fmla="val -62679"/>
              <a:gd name="adj2" fmla="val 164747"/>
              <a:gd name="adj3" fmla="val 16667"/>
            </a:avLst>
          </a:prstGeom>
          <a:solidFill>
            <a:srgbClr val="FFFF0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uk-UA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1" u="none" strike="noStrike" kern="0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</a:defRPr>
            </a:lvl1pPr>
          </a:lstStyle>
          <a:p>
            <a:pPr lvl="0">
              <a:defRPr/>
            </a:pPr>
            <a:r>
              <a:rPr lang="uk-UA" dirty="0"/>
              <a:t>Сторінка</a:t>
            </a:r>
          </a:p>
          <a:p>
            <a:pPr lvl="0">
              <a:defRPr/>
            </a:pPr>
            <a:r>
              <a:rPr lang="uk-UA" dirty="0"/>
              <a:t>58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87CB552-4E22-4667-A9CE-CD78F99EF5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82" r="9530"/>
          <a:stretch/>
        </p:blipFill>
        <p:spPr>
          <a:xfrm>
            <a:off x="7228115" y="1177376"/>
            <a:ext cx="4839154" cy="564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ідзаголовок 2"/>
          <p:cNvSpPr>
            <a:spLocks noGrp="1"/>
          </p:cNvSpPr>
          <p:nvPr>
            <p:ph type="subTitle" idx="4294967295"/>
          </p:nvPr>
        </p:nvSpPr>
        <p:spPr>
          <a:xfrm>
            <a:off x="5032382" y="3184362"/>
            <a:ext cx="7138989" cy="403410"/>
          </a:xfrm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uk-UA" sz="1600" b="1" dirty="0">
                <a:solidFill>
                  <a:srgbClr val="FFFFFF"/>
                </a:solidFill>
              </a:rPr>
              <a:t>За навчальною програмою 2017 року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8AE1C07-B294-4681-B347-F26D0E8184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uk-UA" sz="4800" dirty="0"/>
              <a:t>Дякую за увагу!</a:t>
            </a: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C4864CFF-968C-4B63-AE6C-FF567034944A}"/>
              </a:ext>
            </a:extLst>
          </p:cNvPr>
          <p:cNvSpPr/>
          <p:nvPr/>
        </p:nvSpPr>
        <p:spPr>
          <a:xfrm>
            <a:off x="2926948" y="2060124"/>
            <a:ext cx="2092407" cy="706854"/>
          </a:xfrm>
          <a:prstGeom prst="rect">
            <a:avLst/>
          </a:prstGeom>
          <a:solidFill>
            <a:srgbClr val="6D6E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anose="020B0604020202020204" pitchFamily="34" charset="0"/>
              </a:rPr>
              <a:t>Урок 15</a:t>
            </a:r>
          </a:p>
        </p:txBody>
      </p:sp>
      <p:pic>
        <p:nvPicPr>
          <p:cNvPr id="11" name="Picture 2" descr="computer, programmer, scientist icon">
            <a:extLst>
              <a:ext uri="{FF2B5EF4-FFF2-40B4-BE49-F238E27FC236}">
                <a16:creationId xmlns:a16="http://schemas.microsoft.com/office/drawing/2014/main" id="{9D8ADADA-2831-455C-9E48-180F2AD8D1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25" b="14007"/>
          <a:stretch/>
        </p:blipFill>
        <p:spPr bwMode="auto">
          <a:xfrm>
            <a:off x="6040683" y="3918763"/>
            <a:ext cx="3378454" cy="233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information security, pagelock, secure website, website security icon">
            <a:extLst>
              <a:ext uri="{FF2B5EF4-FFF2-40B4-BE49-F238E27FC236}">
                <a16:creationId xmlns:a16="http://schemas.microsoft.com/office/drawing/2014/main" id="{6BE96F13-C594-44A0-8DE7-E4D275FAD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539" y="3892816"/>
            <a:ext cx="2388704" cy="2388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49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Настроювані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9141</TotalTime>
  <Words>535</Words>
  <Application>Microsoft Office PowerPoint</Application>
  <PresentationFormat>Широкий екран</PresentationFormat>
  <Paragraphs>52</Paragraphs>
  <Slides>16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Comic Sans MS</vt:lpstr>
      <vt:lpstr>Verdana</vt:lpstr>
      <vt:lpstr>Wingdings</vt:lpstr>
      <vt:lpstr>Тема Office</vt:lpstr>
      <vt:lpstr>Інформаційна безпека  Практична робота 5</vt:lpstr>
      <vt:lpstr>Яких правил доцільно дотримуватися для безпечної роботи в інтернеті?</vt:lpstr>
      <vt:lpstr>Яких правил доцільно дотримуватися для безпечної роботи в інтернеті?</vt:lpstr>
      <vt:lpstr>Яких правил доцільно дотримуватися для безпечної роботи в інтернеті?</vt:lpstr>
      <vt:lpstr>Яких правил доцільно дотримуватися для безпечної роботи в інтернеті?</vt:lpstr>
      <vt:lpstr>Яких правил доцільно дотримуватися для безпечної роботи в інтернеті?</vt:lpstr>
      <vt:lpstr>Яких правил доцільно дотримуватися для безпечної роботи в інтернеті?</vt:lpstr>
      <vt:lpstr>Яких правил доцільно дотримуватися для безпечної роботи в інтернеті?</vt:lpstr>
      <vt:lpstr>Яких правил доцільно дотримуватися для безпечної роботи в інтернеті?</vt:lpstr>
      <vt:lpstr>Яких правил доцільно дотримуватися для безпечної роботи в інтернеті?</vt:lpstr>
      <vt:lpstr>Яких правил доцільно дотримуватися для безпечної роботи в інтернеті?</vt:lpstr>
      <vt:lpstr>Розгадайте ребус</vt:lpstr>
      <vt:lpstr>Домашнє завдання</vt:lpstr>
      <vt:lpstr>Працюємо за комп’ютером</vt:lpstr>
      <vt:lpstr>Працюємо за комп’ютером</vt:lpstr>
      <vt:lpstr>Дякую за увагу!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Мацаєнко Сергій</dc:creator>
  <cp:lastModifiedBy>Сергій Мацаєнко</cp:lastModifiedBy>
  <cp:revision>265</cp:revision>
  <dcterms:created xsi:type="dcterms:W3CDTF">2016-06-06T19:48:43Z</dcterms:created>
  <dcterms:modified xsi:type="dcterms:W3CDTF">2022-08-04T09:06:56Z</dcterms:modified>
</cp:coreProperties>
</file>