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7" r:id="rId3"/>
    <p:sldId id="256" r:id="rId4"/>
    <p:sldId id="262" r:id="rId5"/>
    <p:sldId id="261" r:id="rId6"/>
    <p:sldId id="263" r:id="rId7"/>
    <p:sldId id="260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74" autoAdjust="0"/>
  </p:normalViewPr>
  <p:slideViewPr>
    <p:cSldViewPr>
      <p:cViewPr varScale="1">
        <p:scale>
          <a:sx n="70" d="100"/>
          <a:sy n="70" d="100"/>
        </p:scale>
        <p:origin x="18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815D4-1C22-42F5-B573-1A342EDF8C89}" type="datetimeFigureOut">
              <a:rPr lang="uk-UA" smtClean="0"/>
              <a:t>23.11.2017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3D69E-6E98-419A-A1B2-18121847527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6220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Стаціонарні комп’ютери складаються з окремих частин, як наприклад, системний блок, монітор і клавіатура, миша. Частини з’єднуються спеціальними кабелями з системним блоком. 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3D69E-6E98-419A-A1B2-181218475271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501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Ноутбук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(від англ. </a:t>
            </a:r>
            <a:r>
              <a:rPr lang="uk-UA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notebook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блокнот, блокнотний ПК)  - портативний персональний комп'ютер,  в корпусі якого об'єднані складові стаціонарного ПК. Корпус ноутбука згортається у вигляді книжки. Звідси і пішла назва такого виду ПК. Ноутбуки мають невеликий розмір та вагу, деякий час можуть працювати на акумуляторних батареях.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Нетбук 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портативний комп'ютер, основне призначення котрого полягає в доступі до Інтернету.  Нетбуки ще менші за ноутбук розмірами та вагою, низьким рівнем споживання електроенергії.</a:t>
            </a:r>
          </a:p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3D69E-6E98-419A-A1B2-181218475271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2701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Планшетні</a:t>
            </a:r>
            <a:r>
              <a:rPr lang="uk-UA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комп’ютери та 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кишенькові –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це персональні комп’ютери, які містять 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сенсорний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тобто чутливий до дотиків екран. Його використовують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введення даних без використання окремих пристроїв -  клавіатури і миші. Вводити дані можна за допомогою спеціального пера  - </a:t>
            </a:r>
            <a:r>
              <a:rPr lang="uk-UA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стілуса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або пальцем руки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3D69E-6E98-419A-A1B2-181218475271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461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Кишенькові комп’ютери ще менші за розмірами,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тобто такі, що можуть поміститись навіть в кишені.</a:t>
            </a:r>
          </a:p>
          <a:p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Кишенькові комп’ютери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що мають ще й функції мобільного телефону, називають</a:t>
            </a:r>
            <a:r>
              <a:rPr lang="uk-UA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смартфонами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або </a:t>
            </a:r>
            <a:r>
              <a:rPr lang="uk-UA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комунікаторами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Ці слова являють синонімами й слово </a:t>
            </a:r>
            <a:r>
              <a:rPr lang="uk-UA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смартфон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вживають частіше. Функції </a:t>
            </a:r>
            <a:r>
              <a:rPr lang="uk-UA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смартфонів</a:t>
            </a:r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мають майже всі сучасні мобільні телефони. 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3D69E-6E98-419A-A1B2-181218475271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4329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Часто персональний комп’ютер потрібен людині поза робочим місцем чи домом. Умови праці, навчання або відпочинку, робоче місце людей різноманітні. Дехто працює або подорожує високо в горах, інші – під водою на підводному човні, постійно переміщуються працівники транспортної галузі, військові, охоронні служби. </a:t>
            </a:r>
          </a:p>
          <a:p>
            <a:r>
              <a:rPr lang="uk-UA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Тому виникає потреба в різноманітних комп’ютерах, зручних для використання в різних умовах. Велика кількість людей використовують в якості ПК настільні та різні переносні комп’ютери.</a:t>
            </a:r>
          </a:p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3D69E-6E98-419A-A1B2-181218475271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171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 smtClean="0"/>
              <a:t>Вставка рисунка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 descr="a1"/>
          <p:cNvSpPr>
            <a:spLocks noChangeArrowheads="1"/>
          </p:cNvSpPr>
          <p:nvPr/>
        </p:nvSpPr>
        <p:spPr bwMode="gray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gray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gray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3092" name="Rectangle 20" descr="a2"/>
          <p:cNvSpPr>
            <a:spLocks noChangeArrowheads="1"/>
          </p:cNvSpPr>
          <p:nvPr/>
        </p:nvSpPr>
        <p:spPr bwMode="gray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3093" name="Rectangle 21"/>
          <p:cNvSpPr>
            <a:spLocks noChangeArrowheads="1"/>
          </p:cNvSpPr>
          <p:nvPr/>
        </p:nvSpPr>
        <p:spPr bwMode="gray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3094" name="Rectangle 22"/>
          <p:cNvSpPr>
            <a:spLocks noChangeArrowheads="1"/>
          </p:cNvSpPr>
          <p:nvPr/>
        </p:nvSpPr>
        <p:spPr bwMode="gray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>
                <a:latin typeface="Verdana" pitchFamily="34" charset="0"/>
              </a:defRPr>
            </a:lvl1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51613"/>
            <a:ext cx="2133600" cy="169862"/>
          </a:xfrm>
        </p:spPr>
        <p:txBody>
          <a:bodyPr/>
          <a:lstStyle>
            <a:lvl1pPr>
              <a:defRPr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53200"/>
            <a:ext cx="2895600" cy="168275"/>
          </a:xfrm>
        </p:spPr>
        <p:txBody>
          <a:bodyPr/>
          <a:lstStyle>
            <a:lvl1pPr algn="ctr">
              <a:defRPr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553200"/>
            <a:ext cx="2133600" cy="168275"/>
          </a:xfrm>
        </p:spPr>
        <p:txBody>
          <a:bodyPr/>
          <a:lstStyle>
            <a:lvl1pPr algn="r">
              <a:defRPr>
                <a:effectLst/>
                <a:latin typeface="+mn-lt"/>
              </a:defRPr>
            </a:lvl1pPr>
          </a:lstStyle>
          <a:p>
            <a:fld id="{E882C69E-EE74-4DD7-BD10-AF43C138864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rial Black" pitchFamily="34" charset="0"/>
              </a:rPr>
              <a:t>L o g o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037F0-E1E5-4F49-AB24-8B4FDF0507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C152E-A873-4F41-A6E0-895C6E01F9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49F2F-063D-49EE-9566-232E0A2931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B575D-5ACB-4EF7-A81F-0FBDB7B1FE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3B56F-3520-4DBF-B3E3-4ACCC1B5A7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C09E60-0216-49B4-8CE0-3D407A5F45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4DA10A-7679-4835-A66D-4CDEACD635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A1109-8DDE-4AB1-8AD9-CF081D7835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AD1E7A-B560-4F12-BFCF-D25D9A8C66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A3286-9834-4D18-97EA-1CBEA806F9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r>
              <a:rPr lang="ru-RU" smtClean="0"/>
              <a:t>Вставка таблицы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4594A7D5-4110-44A4-B286-635528A4C1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Образец текста</a:t>
            </a:r>
          </a:p>
          <a:p>
            <a:pPr lvl="1"/>
            <a:r>
              <a:rPr lang="uk-UA" smtClean="0"/>
              <a:t>Второй уровень</a:t>
            </a:r>
          </a:p>
          <a:p>
            <a:pPr lvl="2"/>
            <a:r>
              <a:rPr lang="uk-UA" smtClean="0"/>
              <a:t>Третий уровень</a:t>
            </a:r>
          </a:p>
          <a:p>
            <a:pPr lvl="3"/>
            <a:r>
              <a:rPr lang="uk-UA" smtClean="0"/>
              <a:t>Четвертый уровень</a:t>
            </a:r>
          </a:p>
          <a:p>
            <a:pPr lvl="4"/>
            <a:r>
              <a:rPr lang="uk-UA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55CB1-44AD-4F6B-9575-A140F4F9150B}" type="datetimeFigureOut">
              <a:rPr lang="uk-UA" smtClean="0"/>
              <a:pPr/>
              <a:t>23.11.2017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4AB6-91A6-4AF4-901C-9181FB9FF8CC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Rectangle 23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gray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1049" name="Rectangle 25" descr="a2"/>
          <p:cNvSpPr>
            <a:spLocks noChangeArrowheads="1"/>
          </p:cNvSpPr>
          <p:nvPr/>
        </p:nvSpPr>
        <p:spPr bwMode="gray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gray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gray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0" y="685800"/>
            <a:ext cx="9144000" cy="609600"/>
            <a:chOff x="0" y="432"/>
            <a:chExt cx="5760" cy="384"/>
          </a:xfrm>
        </p:grpSpPr>
        <p:sp>
          <p:nvSpPr>
            <p:cNvPr id="1052" name="Rectangle 28"/>
            <p:cNvSpPr>
              <a:spLocks noChangeArrowheads="1"/>
            </p:cNvSpPr>
            <p:nvPr userDrawn="1"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uk-UA"/>
            </a:p>
          </p:txBody>
        </p:sp>
        <p:sp>
          <p:nvSpPr>
            <p:cNvPr id="1053" name="Rectangle 29"/>
            <p:cNvSpPr>
              <a:spLocks noChangeArrowheads="1"/>
            </p:cNvSpPr>
            <p:nvPr userDrawn="1"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uk-UA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fld id="{67E57643-A3C0-4F98-91AA-52A61FE2B1A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55" name="Text Box 31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rial Black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5000">
              <a:srgbClr val="85C2FF"/>
            </a:gs>
            <a:gs pos="100000">
              <a:schemeClr val="tx2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Скругленная соединительная линия 9"/>
          <p:cNvCxnSpPr/>
          <p:nvPr/>
        </p:nvCxnSpPr>
        <p:spPr>
          <a:xfrm rot="715187">
            <a:off x="-1212299" y="1579425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715187">
            <a:off x="-1077242" y="188579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кругленная соединительная линия 14"/>
          <p:cNvCxnSpPr/>
          <p:nvPr/>
        </p:nvCxnSpPr>
        <p:spPr>
          <a:xfrm rot="715187">
            <a:off x="-942185" y="2171544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кругленная соединительная линия 15"/>
          <p:cNvCxnSpPr/>
          <p:nvPr/>
        </p:nvCxnSpPr>
        <p:spPr>
          <a:xfrm rot="715187">
            <a:off x="-807128" y="2457296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кругленная соединительная линия 16"/>
          <p:cNvCxnSpPr/>
          <p:nvPr/>
        </p:nvCxnSpPr>
        <p:spPr>
          <a:xfrm rot="715187">
            <a:off x="-672070" y="2743048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715187">
            <a:off x="-537013" y="3028800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кругленная соединительная линия 18"/>
          <p:cNvCxnSpPr/>
          <p:nvPr/>
        </p:nvCxnSpPr>
        <p:spPr>
          <a:xfrm rot="715187">
            <a:off x="-401956" y="331455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Группа 21"/>
          <p:cNvGrpSpPr/>
          <p:nvPr/>
        </p:nvGrpSpPr>
        <p:grpSpPr>
          <a:xfrm>
            <a:off x="8169300" y="6357958"/>
            <a:ext cx="474666" cy="285752"/>
            <a:chOff x="8169300" y="6357958"/>
            <a:chExt cx="474666" cy="285752"/>
          </a:xfrm>
        </p:grpSpPr>
        <p:sp>
          <p:nvSpPr>
            <p:cNvPr id="45" name="Нашивка 44">
              <a:hlinkClick r:id="" action="ppaction://hlinkshowjump?jump=nextslide"/>
            </p:cNvPr>
            <p:cNvSpPr/>
            <p:nvPr/>
          </p:nvSpPr>
          <p:spPr>
            <a:xfrm>
              <a:off x="816930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6" name="Нашивка 45">
              <a:hlinkClick r:id="" action="ppaction://hlinkshowjump?jump=nextslide"/>
            </p:cNvPr>
            <p:cNvSpPr/>
            <p:nvPr/>
          </p:nvSpPr>
          <p:spPr>
            <a:xfrm>
              <a:off x="8369416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214282" y="6357958"/>
            <a:ext cx="428628" cy="285752"/>
            <a:chOff x="214282" y="6357958"/>
            <a:chExt cx="428628" cy="285752"/>
          </a:xfrm>
        </p:grpSpPr>
        <p:sp>
          <p:nvSpPr>
            <p:cNvPr id="51" name="Нашивка 50">
              <a:hlinkClick r:id="" action="ppaction://hlinkshowjump?jump=endshow"/>
            </p:cNvPr>
            <p:cNvSpPr/>
            <p:nvPr/>
          </p:nvSpPr>
          <p:spPr>
            <a:xfrm>
              <a:off x="214282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52" name="Нашивка 51">
              <a:hlinkClick r:id="" action="ppaction://hlinkshowjump?jump=endshow"/>
            </p:cNvPr>
            <p:cNvSpPr/>
            <p:nvPr/>
          </p:nvSpPr>
          <p:spPr>
            <a:xfrm rot="10800000">
              <a:off x="357158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54" name="Заголовок 53"/>
          <p:cNvSpPr>
            <a:spLocks noGrp="1"/>
          </p:cNvSpPr>
          <p:nvPr>
            <p:ph type="ctrTitle"/>
          </p:nvPr>
        </p:nvSpPr>
        <p:spPr>
          <a:xfrm>
            <a:off x="785786" y="428604"/>
            <a:ext cx="7772400" cy="1470025"/>
          </a:xfrm>
        </p:spPr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uk-UA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Якими бувають персональні комп’ютери</a:t>
            </a:r>
            <a:endParaRPr lang="ru-RU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55" name="Подзаголовок 54"/>
          <p:cNvSpPr>
            <a:spLocks noGrp="1"/>
          </p:cNvSpPr>
          <p:nvPr>
            <p:ph type="subTitle" idx="1"/>
          </p:nvPr>
        </p:nvSpPr>
        <p:spPr>
          <a:xfrm>
            <a:off x="2500298" y="5500702"/>
            <a:ext cx="4257660" cy="1071546"/>
          </a:xfrm>
        </p:spPr>
        <p:txBody>
          <a:bodyPr anchor="b"/>
          <a:lstStyle/>
          <a:p>
            <a:r>
              <a:rPr lang="uk-UA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Створив Іван Розумний, </a:t>
            </a: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6</a:t>
            </a:r>
            <a:r>
              <a:rPr lang="uk-UA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-в клас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32" name="Picture 8" descr="E:\СДІ-5\Значки\Пропуск уроків\mycomputer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786190"/>
            <a:ext cx="1928826" cy="1928826"/>
          </a:xfrm>
          <a:prstGeom prst="rect">
            <a:avLst/>
          </a:prstGeom>
          <a:noFill/>
        </p:spPr>
      </p:pic>
      <p:pic>
        <p:nvPicPr>
          <p:cNvPr id="1033" name="Picture 9" descr="C:\Users\bobryk\Pictures\Иконки 1\ПК\comp_macboo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2285992"/>
            <a:ext cx="1285884" cy="12858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5000">
              <a:srgbClr val="85C2FF"/>
            </a:gs>
            <a:gs pos="100000">
              <a:schemeClr val="tx2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Скругленная соединительная линия 9"/>
          <p:cNvCxnSpPr/>
          <p:nvPr/>
        </p:nvCxnSpPr>
        <p:spPr>
          <a:xfrm rot="715187">
            <a:off x="-1212299" y="1579425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715187">
            <a:off x="-1077242" y="188579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кругленная соединительная линия 14"/>
          <p:cNvCxnSpPr/>
          <p:nvPr/>
        </p:nvCxnSpPr>
        <p:spPr>
          <a:xfrm rot="715187">
            <a:off x="-942185" y="2171544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кругленная соединительная линия 15"/>
          <p:cNvCxnSpPr/>
          <p:nvPr/>
        </p:nvCxnSpPr>
        <p:spPr>
          <a:xfrm rot="715187">
            <a:off x="-807128" y="2457296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кругленная соединительная линия 16"/>
          <p:cNvCxnSpPr/>
          <p:nvPr/>
        </p:nvCxnSpPr>
        <p:spPr>
          <a:xfrm rot="715187">
            <a:off x="-672070" y="2743048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715187">
            <a:off x="-537013" y="3028800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кругленная соединительная линия 18"/>
          <p:cNvCxnSpPr/>
          <p:nvPr/>
        </p:nvCxnSpPr>
        <p:spPr>
          <a:xfrm rot="715187">
            <a:off x="-401956" y="331455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Заголовок 5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ound2SameRect">
            <a:avLst>
              <a:gd name="adj1" fmla="val 16667"/>
              <a:gd name="adj2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25000">
                <a:srgbClr val="85C2FF">
                  <a:alpha val="9000"/>
                </a:srgbClr>
              </a:gs>
              <a:gs pos="100000">
                <a:schemeClr val="tx2">
                  <a:lumMod val="75000"/>
                  <a:alpha val="36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ru-RU" b="1" cap="all" dirty="0" err="1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Стаціонарні</a:t>
            </a:r>
            <a:r>
              <a:rPr lang="ru-RU" b="1" cap="all" dirty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  <a:r>
              <a:rPr lang="ru-RU" b="1" cap="all" dirty="0" err="1" smtClean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комп’ютери</a:t>
            </a:r>
            <a:endParaRPr lang="ru-RU" dirty="0"/>
          </a:p>
        </p:txBody>
      </p:sp>
      <p:sp>
        <p:nvSpPr>
          <p:cNvPr id="57" name="Содержимое 5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oundRect">
            <a:avLst>
              <a:gd name="adj" fmla="val 6285"/>
            </a:avLst>
          </a:prstGeom>
          <a:solidFill>
            <a:schemeClr val="bg1">
              <a:alpha val="47000"/>
            </a:schemeClr>
          </a:solidFill>
          <a:ln cap="rnd">
            <a:noFill/>
            <a:bevel/>
          </a:ln>
          <a:effectLst>
            <a:outerShdw blurRad="317500" dist="203200" dir="2700000" sx="99000" sy="99000" algn="tl" rotWithShape="0">
              <a:schemeClr val="bg1">
                <a:alpha val="37000"/>
              </a:schemeClr>
            </a:outerShdw>
          </a:effectLst>
        </p:spPr>
        <p:txBody>
          <a:bodyPr>
            <a:normAutofit/>
          </a:bodyPr>
          <a:lstStyle/>
          <a:p>
            <a:pPr marL="0" indent="0" algn="r">
              <a:buNone/>
            </a:pPr>
            <a:endParaRPr lang="ru-RU" sz="1800" dirty="0"/>
          </a:p>
        </p:txBody>
      </p:sp>
      <p:grpSp>
        <p:nvGrpSpPr>
          <p:cNvPr id="20" name="Группа 19"/>
          <p:cNvGrpSpPr/>
          <p:nvPr/>
        </p:nvGrpSpPr>
        <p:grpSpPr>
          <a:xfrm>
            <a:off x="8169300" y="6357958"/>
            <a:ext cx="474666" cy="285752"/>
            <a:chOff x="8169300" y="6357958"/>
            <a:chExt cx="474666" cy="285752"/>
          </a:xfrm>
        </p:grpSpPr>
        <p:sp>
          <p:nvSpPr>
            <p:cNvPr id="21" name="Нашивка 20">
              <a:hlinkClick r:id="" action="ppaction://hlinkshowjump?jump=nextslide"/>
            </p:cNvPr>
            <p:cNvSpPr/>
            <p:nvPr/>
          </p:nvSpPr>
          <p:spPr>
            <a:xfrm>
              <a:off x="816930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Нашивка 21">
              <a:hlinkClick r:id="" action="ppaction://hlinkshowjump?jump=nextslide"/>
            </p:cNvPr>
            <p:cNvSpPr/>
            <p:nvPr/>
          </p:nvSpPr>
          <p:spPr>
            <a:xfrm>
              <a:off x="8369416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7643834" y="6357958"/>
            <a:ext cx="474666" cy="285752"/>
            <a:chOff x="7643834" y="6357958"/>
            <a:chExt cx="474666" cy="285752"/>
          </a:xfrm>
        </p:grpSpPr>
        <p:sp>
          <p:nvSpPr>
            <p:cNvPr id="24" name="Нашивка 23">
              <a:hlinkClick r:id="" action="ppaction://hlinkshowjump?jump=previousslide"/>
            </p:cNvPr>
            <p:cNvSpPr/>
            <p:nvPr/>
          </p:nvSpPr>
          <p:spPr>
            <a:xfrm rot="10800000">
              <a:off x="784395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5" name="Нашивка 24">
              <a:hlinkClick r:id="" action="ppaction://hlinkshowjump?jump=previousslide"/>
            </p:cNvPr>
            <p:cNvSpPr/>
            <p:nvPr/>
          </p:nvSpPr>
          <p:spPr>
            <a:xfrm rot="10800000">
              <a:off x="7643834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214282" y="6357958"/>
            <a:ext cx="428628" cy="285752"/>
            <a:chOff x="214282" y="6357958"/>
            <a:chExt cx="428628" cy="285752"/>
          </a:xfrm>
        </p:grpSpPr>
        <p:sp>
          <p:nvSpPr>
            <p:cNvPr id="27" name="Нашивка 26">
              <a:hlinkClick r:id="" action="ppaction://hlinkshowjump?jump=endshow"/>
            </p:cNvPr>
            <p:cNvSpPr/>
            <p:nvPr/>
          </p:nvSpPr>
          <p:spPr>
            <a:xfrm>
              <a:off x="214282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28" name="Нашивка 27">
              <a:hlinkClick r:id="" action="ppaction://hlinkshowjump?jump=endshow"/>
            </p:cNvPr>
            <p:cNvSpPr/>
            <p:nvPr/>
          </p:nvSpPr>
          <p:spPr>
            <a:xfrm rot="10800000">
              <a:off x="357158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pic>
        <p:nvPicPr>
          <p:cNvPr id="1027" name="Picture 3" descr="E:\СДІ-5\Значки\Пристрої\tehno6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60" y="1928802"/>
            <a:ext cx="3914751" cy="3683880"/>
          </a:xfrm>
          <a:prstGeom prst="rect">
            <a:avLst/>
          </a:prstGeom>
          <a:noFill/>
        </p:spPr>
      </p:pic>
      <p:sp>
        <p:nvSpPr>
          <p:cNvPr id="30" name="Прямоугольник 29"/>
          <p:cNvSpPr/>
          <p:nvPr/>
        </p:nvSpPr>
        <p:spPr>
          <a:xfrm>
            <a:off x="6429388" y="1928802"/>
            <a:ext cx="2141099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системний</a:t>
            </a:r>
            <a:br>
              <a:rPr lang="uk-UA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</a:br>
            <a:r>
              <a:rPr lang="uk-UA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 блок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6215074" y="5357826"/>
            <a:ext cx="122180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миша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785786" y="2000240"/>
            <a:ext cx="162236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монітор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642910" y="5357826"/>
            <a:ext cx="21805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 клавіатура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cxnSp>
        <p:nvCxnSpPr>
          <p:cNvPr id="37" name="Прямая со стрелкой 36"/>
          <p:cNvCxnSpPr/>
          <p:nvPr/>
        </p:nvCxnSpPr>
        <p:spPr>
          <a:xfrm>
            <a:off x="1928794" y="2571744"/>
            <a:ext cx="1143008" cy="571504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 flipV="1">
            <a:off x="2785256" y="5143512"/>
            <a:ext cx="643736" cy="286546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 rot="5400000">
            <a:off x="6071404" y="2643182"/>
            <a:ext cx="929488" cy="786612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33" idx="1"/>
          </p:cNvCxnSpPr>
          <p:nvPr/>
        </p:nvCxnSpPr>
        <p:spPr>
          <a:xfrm rot="10800000">
            <a:off x="5643570" y="5357826"/>
            <a:ext cx="571504" cy="292388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5000">
              <a:srgbClr val="85C2FF"/>
            </a:gs>
            <a:gs pos="100000">
              <a:schemeClr val="tx2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Скругленная соединительная линия 9"/>
          <p:cNvCxnSpPr/>
          <p:nvPr/>
        </p:nvCxnSpPr>
        <p:spPr>
          <a:xfrm rot="715187">
            <a:off x="-1212299" y="1579425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715187">
            <a:off x="-1077242" y="188579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кругленная соединительная линия 14"/>
          <p:cNvCxnSpPr/>
          <p:nvPr/>
        </p:nvCxnSpPr>
        <p:spPr>
          <a:xfrm rot="715187">
            <a:off x="-942185" y="2171544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кругленная соединительная линия 15"/>
          <p:cNvCxnSpPr/>
          <p:nvPr/>
        </p:nvCxnSpPr>
        <p:spPr>
          <a:xfrm rot="715187">
            <a:off x="-807128" y="2457296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кругленная соединительная линия 16"/>
          <p:cNvCxnSpPr/>
          <p:nvPr/>
        </p:nvCxnSpPr>
        <p:spPr>
          <a:xfrm rot="715187">
            <a:off x="-672070" y="2743048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715187">
            <a:off x="-537013" y="3028800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кругленная соединительная линия 18"/>
          <p:cNvCxnSpPr/>
          <p:nvPr/>
        </p:nvCxnSpPr>
        <p:spPr>
          <a:xfrm rot="715187">
            <a:off x="-401956" y="331455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Заголовок 5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ound2SameRect">
            <a:avLst>
              <a:gd name="adj1" fmla="val 16667"/>
              <a:gd name="adj2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25000">
                <a:srgbClr val="85C2FF">
                  <a:alpha val="9000"/>
                </a:srgbClr>
              </a:gs>
              <a:gs pos="100000">
                <a:schemeClr val="tx2">
                  <a:lumMod val="75000"/>
                  <a:alpha val="36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ru-RU" b="1" cap="all" dirty="0" err="1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Портативні</a:t>
            </a:r>
            <a:r>
              <a:rPr lang="ru-RU" b="1" cap="all" dirty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  <a:r>
              <a:rPr lang="ru-RU" b="1" cap="all" dirty="0" err="1" smtClean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комп’ютери</a:t>
            </a:r>
            <a:endParaRPr lang="ru-RU" dirty="0"/>
          </a:p>
        </p:txBody>
      </p:sp>
      <p:sp>
        <p:nvSpPr>
          <p:cNvPr id="57" name="Содержимое 5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oundRect">
            <a:avLst>
              <a:gd name="adj" fmla="val 6285"/>
            </a:avLst>
          </a:prstGeom>
          <a:solidFill>
            <a:schemeClr val="bg1">
              <a:alpha val="47000"/>
            </a:schemeClr>
          </a:solidFill>
          <a:ln cap="rnd">
            <a:noFill/>
            <a:bevel/>
          </a:ln>
          <a:effectLst>
            <a:outerShdw blurRad="317500" dist="203200" dir="2700000" sx="99000" sy="99000" algn="tl" rotWithShape="0">
              <a:schemeClr val="bg1">
                <a:alpha val="37000"/>
              </a:schemeClr>
            </a:outerShdw>
          </a:effectLst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ru-RU" sz="1800" dirty="0" err="1" smtClean="0">
                <a:solidFill>
                  <a:schemeClr val="bg1"/>
                </a:solidFill>
              </a:rPr>
              <a:t>є</a:t>
            </a:r>
            <a:endParaRPr lang="ru-RU" sz="1800" dirty="0">
              <a:solidFill>
                <a:schemeClr val="bg1"/>
              </a:solidFill>
            </a:endParaRPr>
          </a:p>
        </p:txBody>
      </p:sp>
      <p:grpSp>
        <p:nvGrpSpPr>
          <p:cNvPr id="2" name="Группа 19"/>
          <p:cNvGrpSpPr/>
          <p:nvPr/>
        </p:nvGrpSpPr>
        <p:grpSpPr>
          <a:xfrm>
            <a:off x="8169300" y="6357958"/>
            <a:ext cx="474666" cy="285752"/>
            <a:chOff x="8169300" y="6357958"/>
            <a:chExt cx="474666" cy="285752"/>
          </a:xfrm>
        </p:grpSpPr>
        <p:sp>
          <p:nvSpPr>
            <p:cNvPr id="21" name="Нашивка 20">
              <a:hlinkClick r:id="" action="ppaction://hlinkshowjump?jump=nextslide"/>
            </p:cNvPr>
            <p:cNvSpPr/>
            <p:nvPr/>
          </p:nvSpPr>
          <p:spPr>
            <a:xfrm>
              <a:off x="816930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Нашивка 21">
              <a:hlinkClick r:id="" action="ppaction://hlinkshowjump?jump=nextslide"/>
            </p:cNvPr>
            <p:cNvSpPr/>
            <p:nvPr/>
          </p:nvSpPr>
          <p:spPr>
            <a:xfrm>
              <a:off x="8369416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3" name="Группа 22"/>
          <p:cNvGrpSpPr/>
          <p:nvPr/>
        </p:nvGrpSpPr>
        <p:grpSpPr>
          <a:xfrm>
            <a:off x="7643834" y="6357958"/>
            <a:ext cx="474666" cy="285752"/>
            <a:chOff x="7643834" y="6357958"/>
            <a:chExt cx="474666" cy="285752"/>
          </a:xfrm>
        </p:grpSpPr>
        <p:sp>
          <p:nvSpPr>
            <p:cNvPr id="24" name="Нашивка 23">
              <a:hlinkClick r:id="" action="ppaction://hlinkshowjump?jump=previousslide"/>
            </p:cNvPr>
            <p:cNvSpPr/>
            <p:nvPr/>
          </p:nvSpPr>
          <p:spPr>
            <a:xfrm rot="10800000">
              <a:off x="784395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5" name="Нашивка 24">
              <a:hlinkClick r:id="" action="ppaction://hlinkshowjump?jump=previousslide"/>
            </p:cNvPr>
            <p:cNvSpPr/>
            <p:nvPr/>
          </p:nvSpPr>
          <p:spPr>
            <a:xfrm rot="10800000">
              <a:off x="7643834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4" name="Группа 25"/>
          <p:cNvGrpSpPr/>
          <p:nvPr/>
        </p:nvGrpSpPr>
        <p:grpSpPr>
          <a:xfrm>
            <a:off x="214282" y="6357958"/>
            <a:ext cx="428628" cy="285752"/>
            <a:chOff x="214282" y="6357958"/>
            <a:chExt cx="428628" cy="285752"/>
          </a:xfrm>
        </p:grpSpPr>
        <p:sp>
          <p:nvSpPr>
            <p:cNvPr id="27" name="Нашивка 26">
              <a:hlinkClick r:id="" action="ppaction://hlinkshowjump?jump=endshow"/>
            </p:cNvPr>
            <p:cNvSpPr/>
            <p:nvPr/>
          </p:nvSpPr>
          <p:spPr>
            <a:xfrm>
              <a:off x="214282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28" name="Нашивка 27">
              <a:hlinkClick r:id="" action="ppaction://hlinkshowjump?jump=endshow"/>
            </p:cNvPr>
            <p:cNvSpPr/>
            <p:nvPr/>
          </p:nvSpPr>
          <p:spPr>
            <a:xfrm rot="10800000">
              <a:off x="357158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pic>
        <p:nvPicPr>
          <p:cNvPr id="3074" name="Picture 2" descr="E:\СДІ-5\Значки\Пристрої\c3f8aed1b73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2571744"/>
            <a:ext cx="3998929" cy="3287349"/>
          </a:xfrm>
          <a:prstGeom prst="rect">
            <a:avLst/>
          </a:prstGeom>
          <a:noFill/>
        </p:spPr>
      </p:pic>
      <p:pic>
        <p:nvPicPr>
          <p:cNvPr id="3075" name="Picture 3" descr="E:\СДІ\Рисунки\laptop_pcmcia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6286511" y="2000240"/>
            <a:ext cx="1494349" cy="1500198"/>
          </a:xfrm>
          <a:prstGeom prst="rect">
            <a:avLst/>
          </a:prstGeom>
          <a:noFill/>
        </p:spPr>
      </p:pic>
      <p:sp>
        <p:nvSpPr>
          <p:cNvPr id="23" name="Прямоугольник 22"/>
          <p:cNvSpPr/>
          <p:nvPr/>
        </p:nvSpPr>
        <p:spPr>
          <a:xfrm>
            <a:off x="3143240" y="1714488"/>
            <a:ext cx="222208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ноутбук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rot="5400000">
            <a:off x="3286116" y="2786058"/>
            <a:ext cx="1357322" cy="500066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/>
          <p:cNvSpPr/>
          <p:nvPr/>
        </p:nvSpPr>
        <p:spPr>
          <a:xfrm>
            <a:off x="6357950" y="4643446"/>
            <a:ext cx="222208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нетбук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 rot="16200000" flipV="1">
            <a:off x="6715140" y="3929066"/>
            <a:ext cx="1143008" cy="142876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5000">
              <a:srgbClr val="85C2FF"/>
            </a:gs>
            <a:gs pos="100000">
              <a:schemeClr val="tx2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Скругленная соединительная линия 9"/>
          <p:cNvCxnSpPr/>
          <p:nvPr/>
        </p:nvCxnSpPr>
        <p:spPr>
          <a:xfrm rot="715187">
            <a:off x="-1212299" y="1579425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715187">
            <a:off x="-1077242" y="188579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кругленная соединительная линия 14"/>
          <p:cNvCxnSpPr/>
          <p:nvPr/>
        </p:nvCxnSpPr>
        <p:spPr>
          <a:xfrm rot="715187">
            <a:off x="-942185" y="2171544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кругленная соединительная линия 15"/>
          <p:cNvCxnSpPr/>
          <p:nvPr/>
        </p:nvCxnSpPr>
        <p:spPr>
          <a:xfrm rot="715187">
            <a:off x="-807128" y="2457296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кругленная соединительная линия 16"/>
          <p:cNvCxnSpPr/>
          <p:nvPr/>
        </p:nvCxnSpPr>
        <p:spPr>
          <a:xfrm rot="715187">
            <a:off x="-672070" y="2743048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715187">
            <a:off x="-537013" y="3028800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кругленная соединительная линия 18"/>
          <p:cNvCxnSpPr/>
          <p:nvPr/>
        </p:nvCxnSpPr>
        <p:spPr>
          <a:xfrm rot="715187">
            <a:off x="-401956" y="331455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Заголовок 5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ound2SameRect">
            <a:avLst>
              <a:gd name="adj1" fmla="val 16667"/>
              <a:gd name="adj2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25000">
                <a:srgbClr val="85C2FF">
                  <a:alpha val="9000"/>
                </a:srgbClr>
              </a:gs>
              <a:gs pos="100000">
                <a:schemeClr val="tx2">
                  <a:lumMod val="75000"/>
                  <a:alpha val="36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ru-RU" b="1" cap="all" dirty="0" err="1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планшетні</a:t>
            </a:r>
            <a:r>
              <a:rPr lang="ru-RU" b="1" cap="all" dirty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  <a:r>
              <a:rPr lang="ru-RU" b="1" cap="all" dirty="0" err="1" smtClean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комп’ютери</a:t>
            </a:r>
            <a:endParaRPr lang="ru-RU" dirty="0"/>
          </a:p>
        </p:txBody>
      </p:sp>
      <p:sp>
        <p:nvSpPr>
          <p:cNvPr id="57" name="Содержимое 5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oundRect">
            <a:avLst>
              <a:gd name="adj" fmla="val 6285"/>
            </a:avLst>
          </a:prstGeom>
          <a:solidFill>
            <a:schemeClr val="bg1">
              <a:alpha val="47000"/>
            </a:schemeClr>
          </a:solidFill>
          <a:ln cap="rnd">
            <a:noFill/>
            <a:bevel/>
          </a:ln>
          <a:effectLst>
            <a:outerShdw blurRad="317500" dist="203200" dir="2700000" sx="99000" sy="99000" algn="tl" rotWithShape="0">
              <a:schemeClr val="bg1">
                <a:alpha val="37000"/>
              </a:schemeClr>
            </a:outerShdw>
          </a:effectLst>
        </p:spPr>
        <p:txBody>
          <a:bodyPr>
            <a:normAutofit/>
          </a:bodyPr>
          <a:lstStyle/>
          <a:p>
            <a:pPr marL="0" indent="0" algn="r">
              <a:buNone/>
            </a:pPr>
            <a:endParaRPr lang="ru-RU" sz="1800" dirty="0">
              <a:solidFill>
                <a:schemeClr val="bg1"/>
              </a:solidFill>
            </a:endParaRPr>
          </a:p>
        </p:txBody>
      </p:sp>
      <p:grpSp>
        <p:nvGrpSpPr>
          <p:cNvPr id="2" name="Группа 19"/>
          <p:cNvGrpSpPr/>
          <p:nvPr/>
        </p:nvGrpSpPr>
        <p:grpSpPr>
          <a:xfrm>
            <a:off x="8169300" y="6357958"/>
            <a:ext cx="474666" cy="285752"/>
            <a:chOff x="8169300" y="6357958"/>
            <a:chExt cx="474666" cy="285752"/>
          </a:xfrm>
        </p:grpSpPr>
        <p:sp>
          <p:nvSpPr>
            <p:cNvPr id="21" name="Нашивка 20">
              <a:hlinkClick r:id="" action="ppaction://hlinkshowjump?jump=nextslide"/>
            </p:cNvPr>
            <p:cNvSpPr/>
            <p:nvPr/>
          </p:nvSpPr>
          <p:spPr>
            <a:xfrm>
              <a:off x="816930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Нашивка 21">
              <a:hlinkClick r:id="" action="ppaction://hlinkshowjump?jump=nextslide"/>
            </p:cNvPr>
            <p:cNvSpPr/>
            <p:nvPr/>
          </p:nvSpPr>
          <p:spPr>
            <a:xfrm>
              <a:off x="8369416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3" name="Группа 22"/>
          <p:cNvGrpSpPr/>
          <p:nvPr/>
        </p:nvGrpSpPr>
        <p:grpSpPr>
          <a:xfrm>
            <a:off x="7643834" y="6357958"/>
            <a:ext cx="474666" cy="285752"/>
            <a:chOff x="7643834" y="6357958"/>
            <a:chExt cx="474666" cy="285752"/>
          </a:xfrm>
        </p:grpSpPr>
        <p:sp>
          <p:nvSpPr>
            <p:cNvPr id="24" name="Нашивка 23">
              <a:hlinkClick r:id="" action="ppaction://hlinkshowjump?jump=previousslide"/>
            </p:cNvPr>
            <p:cNvSpPr/>
            <p:nvPr/>
          </p:nvSpPr>
          <p:spPr>
            <a:xfrm rot="10800000">
              <a:off x="784395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5" name="Нашивка 24">
              <a:hlinkClick r:id="" action="ppaction://hlinkshowjump?jump=previousslide"/>
            </p:cNvPr>
            <p:cNvSpPr/>
            <p:nvPr/>
          </p:nvSpPr>
          <p:spPr>
            <a:xfrm rot="10800000">
              <a:off x="7643834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4" name="Группа 25"/>
          <p:cNvGrpSpPr/>
          <p:nvPr/>
        </p:nvGrpSpPr>
        <p:grpSpPr>
          <a:xfrm>
            <a:off x="214282" y="6357958"/>
            <a:ext cx="428628" cy="285752"/>
            <a:chOff x="214282" y="6357958"/>
            <a:chExt cx="428628" cy="285752"/>
          </a:xfrm>
        </p:grpSpPr>
        <p:sp>
          <p:nvSpPr>
            <p:cNvPr id="27" name="Нашивка 26">
              <a:hlinkClick r:id="" action="ppaction://hlinkshowjump?jump=endshow"/>
            </p:cNvPr>
            <p:cNvSpPr/>
            <p:nvPr/>
          </p:nvSpPr>
          <p:spPr>
            <a:xfrm>
              <a:off x="214282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28" name="Нашивка 27">
              <a:hlinkClick r:id="" action="ppaction://hlinkshowjump?jump=endshow"/>
            </p:cNvPr>
            <p:cNvSpPr/>
            <p:nvPr/>
          </p:nvSpPr>
          <p:spPr>
            <a:xfrm rot="10800000">
              <a:off x="357158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pic>
        <p:nvPicPr>
          <p:cNvPr id="4099" name="Picture 3" descr="E:\СДІ\Рисунки\3\MC90044133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2071678"/>
            <a:ext cx="4143404" cy="4143404"/>
          </a:xfrm>
          <a:prstGeom prst="rect">
            <a:avLst/>
          </a:prstGeom>
          <a:noFill/>
        </p:spPr>
      </p:pic>
      <p:sp>
        <p:nvSpPr>
          <p:cNvPr id="26" name="Прямоугольник 25"/>
          <p:cNvSpPr/>
          <p:nvPr/>
        </p:nvSpPr>
        <p:spPr>
          <a:xfrm>
            <a:off x="7215206" y="1785926"/>
            <a:ext cx="119673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32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стілус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cxnSp>
        <p:nvCxnSpPr>
          <p:cNvPr id="29" name="Прямая со стрелкой 28"/>
          <p:cNvCxnSpPr/>
          <p:nvPr/>
        </p:nvCxnSpPr>
        <p:spPr>
          <a:xfrm rot="10800000" flipV="1">
            <a:off x="5929322" y="2285992"/>
            <a:ext cx="1285884" cy="785818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928662" y="2000240"/>
            <a:ext cx="2222082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сенсорний</a:t>
            </a: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ru-RU" sz="32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екран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2571736" y="3071810"/>
            <a:ext cx="1428760" cy="1071570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5000">
              <a:srgbClr val="85C2FF"/>
            </a:gs>
            <a:gs pos="100000">
              <a:schemeClr val="tx2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Скругленная соединительная линия 9"/>
          <p:cNvCxnSpPr/>
          <p:nvPr/>
        </p:nvCxnSpPr>
        <p:spPr>
          <a:xfrm rot="715187">
            <a:off x="-1212299" y="1579425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715187">
            <a:off x="-1077242" y="188579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кругленная соединительная линия 14"/>
          <p:cNvCxnSpPr/>
          <p:nvPr/>
        </p:nvCxnSpPr>
        <p:spPr>
          <a:xfrm rot="715187">
            <a:off x="-942185" y="2171544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кругленная соединительная линия 15"/>
          <p:cNvCxnSpPr/>
          <p:nvPr/>
        </p:nvCxnSpPr>
        <p:spPr>
          <a:xfrm rot="715187">
            <a:off x="-807128" y="2457296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кругленная соединительная линия 16"/>
          <p:cNvCxnSpPr/>
          <p:nvPr/>
        </p:nvCxnSpPr>
        <p:spPr>
          <a:xfrm rot="715187">
            <a:off x="-672070" y="2743048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715187">
            <a:off x="-537013" y="3028800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кругленная соединительная линия 18"/>
          <p:cNvCxnSpPr/>
          <p:nvPr/>
        </p:nvCxnSpPr>
        <p:spPr>
          <a:xfrm rot="715187">
            <a:off x="-401956" y="3314552"/>
            <a:ext cx="10694268" cy="2321213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alpha val="59000"/>
              </a:schemeClr>
            </a:solidFill>
          </a:ln>
          <a:effectLst>
            <a:outerShdw blurRad="127000" algn="ctr" rotWithShape="0">
              <a:schemeClr val="accent1">
                <a:lumMod val="60000"/>
                <a:lumOff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Заголовок 5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ound2SameRect">
            <a:avLst>
              <a:gd name="adj1" fmla="val 16667"/>
              <a:gd name="adj2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25000">
                <a:srgbClr val="85C2FF">
                  <a:alpha val="9000"/>
                </a:srgbClr>
              </a:gs>
              <a:gs pos="100000">
                <a:schemeClr val="tx2">
                  <a:lumMod val="75000"/>
                  <a:alpha val="36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ru-RU" b="1" cap="all" dirty="0" err="1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Кишенькові</a:t>
            </a:r>
            <a:r>
              <a:rPr lang="ru-RU" b="1" cap="all" dirty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  <a:r>
              <a:rPr lang="ru-RU" b="1" cap="all" dirty="0" err="1" smtClean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комп’ютери</a:t>
            </a:r>
            <a:endParaRPr lang="ru-RU" b="1" dirty="0"/>
          </a:p>
        </p:txBody>
      </p:sp>
      <p:sp>
        <p:nvSpPr>
          <p:cNvPr id="57" name="Содержимое 5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oundRect">
            <a:avLst>
              <a:gd name="adj" fmla="val 6285"/>
            </a:avLst>
          </a:prstGeom>
          <a:solidFill>
            <a:schemeClr val="bg1">
              <a:alpha val="47000"/>
            </a:schemeClr>
          </a:solidFill>
          <a:ln cap="rnd">
            <a:noFill/>
            <a:bevel/>
          </a:ln>
          <a:effectLst>
            <a:outerShdw blurRad="317500" dist="203200" dir="2700000" sx="99000" sy="99000" algn="tl" rotWithShape="0">
              <a:schemeClr val="bg1">
                <a:alpha val="37000"/>
              </a:schemeClr>
            </a:outerShdw>
          </a:effectLst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ru-RU" sz="1800" dirty="0" err="1" smtClean="0">
                <a:solidFill>
                  <a:schemeClr val="bg1"/>
                </a:solidFill>
              </a:rPr>
              <a:t>х</a:t>
            </a:r>
            <a:endParaRPr lang="ru-RU" sz="1800" dirty="0">
              <a:solidFill>
                <a:schemeClr val="bg1"/>
              </a:solidFill>
            </a:endParaRPr>
          </a:p>
        </p:txBody>
      </p:sp>
      <p:grpSp>
        <p:nvGrpSpPr>
          <p:cNvPr id="2" name="Группа 19"/>
          <p:cNvGrpSpPr/>
          <p:nvPr/>
        </p:nvGrpSpPr>
        <p:grpSpPr>
          <a:xfrm>
            <a:off x="8169300" y="6357958"/>
            <a:ext cx="474666" cy="285752"/>
            <a:chOff x="8169300" y="6357958"/>
            <a:chExt cx="474666" cy="285752"/>
          </a:xfrm>
        </p:grpSpPr>
        <p:sp>
          <p:nvSpPr>
            <p:cNvPr id="21" name="Нашивка 20">
              <a:hlinkClick r:id="" action="ppaction://hlinkshowjump?jump=nextslide"/>
            </p:cNvPr>
            <p:cNvSpPr/>
            <p:nvPr/>
          </p:nvSpPr>
          <p:spPr>
            <a:xfrm>
              <a:off x="816930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Нашивка 21">
              <a:hlinkClick r:id="" action="ppaction://hlinkshowjump?jump=nextslide"/>
            </p:cNvPr>
            <p:cNvSpPr/>
            <p:nvPr/>
          </p:nvSpPr>
          <p:spPr>
            <a:xfrm>
              <a:off x="8369416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3" name="Группа 22"/>
          <p:cNvGrpSpPr/>
          <p:nvPr/>
        </p:nvGrpSpPr>
        <p:grpSpPr>
          <a:xfrm>
            <a:off x="7643834" y="6357958"/>
            <a:ext cx="474666" cy="285752"/>
            <a:chOff x="7643834" y="6357958"/>
            <a:chExt cx="474666" cy="285752"/>
          </a:xfrm>
        </p:grpSpPr>
        <p:sp>
          <p:nvSpPr>
            <p:cNvPr id="24" name="Нашивка 23">
              <a:hlinkClick r:id="" action="ppaction://hlinkshowjump?jump=previousslide"/>
            </p:cNvPr>
            <p:cNvSpPr/>
            <p:nvPr/>
          </p:nvSpPr>
          <p:spPr>
            <a:xfrm rot="10800000">
              <a:off x="7843950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5" name="Нашивка 24">
              <a:hlinkClick r:id="" action="ppaction://hlinkshowjump?jump=previousslide"/>
            </p:cNvPr>
            <p:cNvSpPr/>
            <p:nvPr/>
          </p:nvSpPr>
          <p:spPr>
            <a:xfrm rot="10800000">
              <a:off x="7643834" y="6357958"/>
              <a:ext cx="274550" cy="28575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4" name="Группа 25"/>
          <p:cNvGrpSpPr/>
          <p:nvPr/>
        </p:nvGrpSpPr>
        <p:grpSpPr>
          <a:xfrm>
            <a:off x="214282" y="6357958"/>
            <a:ext cx="428628" cy="285752"/>
            <a:chOff x="214282" y="6357958"/>
            <a:chExt cx="428628" cy="285752"/>
          </a:xfrm>
        </p:grpSpPr>
        <p:sp>
          <p:nvSpPr>
            <p:cNvPr id="27" name="Нашивка 26">
              <a:hlinkClick r:id="" action="ppaction://hlinkshowjump?jump=endshow"/>
            </p:cNvPr>
            <p:cNvSpPr/>
            <p:nvPr/>
          </p:nvSpPr>
          <p:spPr>
            <a:xfrm>
              <a:off x="214282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28" name="Нашивка 27">
              <a:hlinkClick r:id="" action="ppaction://hlinkshowjump?jump=endshow"/>
            </p:cNvPr>
            <p:cNvSpPr/>
            <p:nvPr/>
          </p:nvSpPr>
          <p:spPr>
            <a:xfrm rot="10800000">
              <a:off x="357158" y="6357958"/>
              <a:ext cx="285752" cy="28575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pic>
        <p:nvPicPr>
          <p:cNvPr id="23" name="Picture 6" descr="E:\СДІ\Рисунки\3\MC90043983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286124"/>
            <a:ext cx="2743200" cy="2743200"/>
          </a:xfrm>
          <a:prstGeom prst="rect">
            <a:avLst/>
          </a:prstGeom>
          <a:noFill/>
        </p:spPr>
      </p:pic>
      <p:pic>
        <p:nvPicPr>
          <p:cNvPr id="5122" name="Picture 2" descr="E:\СДІ-5\Значки\Пристрої\apple_festival_iphone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7950" y="1785926"/>
            <a:ext cx="1455742" cy="2303983"/>
          </a:xfrm>
          <a:prstGeom prst="rect">
            <a:avLst/>
          </a:prstGeom>
          <a:noFill/>
        </p:spPr>
      </p:pic>
      <p:sp>
        <p:nvSpPr>
          <p:cNvPr id="29" name="Прямоугольник 28"/>
          <p:cNvSpPr/>
          <p:nvPr/>
        </p:nvSpPr>
        <p:spPr>
          <a:xfrm>
            <a:off x="2928926" y="2071678"/>
            <a:ext cx="2685287" cy="138499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uk-UA" sz="2800" b="1" cap="all" dirty="0" err="1" smtClean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Смартфони</a:t>
            </a:r>
            <a:endParaRPr lang="uk-UA" sz="2800" b="1" cap="all" dirty="0" smtClean="0">
              <a:ln/>
              <a:solidFill>
                <a:srgbClr val="00206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  <a:p>
            <a:endParaRPr lang="uk-UA" sz="2800" b="1" cap="all" dirty="0" smtClean="0">
              <a:ln/>
              <a:solidFill>
                <a:srgbClr val="00206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  <a:p>
            <a:r>
              <a:rPr lang="uk-UA" sz="2800" b="1" cap="all" dirty="0" err="1" smtClean="0">
                <a:ln/>
                <a:solidFill>
                  <a:srgbClr val="00206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комунікатори</a:t>
            </a:r>
            <a:endParaRPr lang="uk-UA" sz="2800" b="1" cap="all" dirty="0">
              <a:ln/>
              <a:solidFill>
                <a:srgbClr val="00206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103427" name="AutoShape 3"/>
          <p:cNvSpPr>
            <a:spLocks noChangeArrowheads="1"/>
          </p:cNvSpPr>
          <p:nvPr/>
        </p:nvSpPr>
        <p:spPr bwMode="gray">
          <a:xfrm>
            <a:off x="2057400" y="2381250"/>
            <a:ext cx="5530850" cy="2743200"/>
          </a:xfrm>
          <a:prstGeom prst="upArrow">
            <a:avLst>
              <a:gd name="adj1" fmla="val 57824"/>
              <a:gd name="adj2" fmla="val 54398"/>
            </a:avLst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uk-UA"/>
          </a:p>
        </p:txBody>
      </p:sp>
      <p:sp>
        <p:nvSpPr>
          <p:cNvPr id="103428" name="AutoShape 4"/>
          <p:cNvSpPr>
            <a:spLocks noChangeArrowheads="1"/>
          </p:cNvSpPr>
          <p:nvPr/>
        </p:nvSpPr>
        <p:spPr bwMode="gray">
          <a:xfrm>
            <a:off x="1828800" y="1619250"/>
            <a:ext cx="5791200" cy="5746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alpha val="99001"/>
                </a:schemeClr>
              </a:gs>
              <a:gs pos="50000">
                <a:schemeClr val="hlink">
                  <a:gamma/>
                  <a:tint val="64314"/>
                  <a:invGamma/>
                </a:schemeClr>
              </a:gs>
              <a:gs pos="100000">
                <a:schemeClr val="hlink">
                  <a:alpha val="99001"/>
                </a:schemeClr>
              </a:gs>
            </a:gsLst>
            <a:lin ang="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uk-UA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Персональні комп’ютери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gray">
          <a:xfrm>
            <a:off x="3808412" y="2990850"/>
            <a:ext cx="1906596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uk-UA" sz="2800" dirty="0" smtClean="0"/>
              <a:t>ПК</a:t>
            </a:r>
            <a:endParaRPr lang="en-US" sz="2800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28689" y="4254501"/>
            <a:ext cx="1785939" cy="2074863"/>
            <a:chOff x="489" y="2476"/>
            <a:chExt cx="1125" cy="1307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89" y="2476"/>
              <a:ext cx="1125" cy="1307"/>
              <a:chOff x="508" y="1584"/>
              <a:chExt cx="1498" cy="1775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624" y="1584"/>
                <a:ext cx="1248" cy="1296"/>
                <a:chOff x="2016" y="1920"/>
                <a:chExt cx="1680" cy="1680"/>
              </a:xfrm>
            </p:grpSpPr>
            <p:sp>
              <p:nvSpPr>
                <p:cNvPr id="103433" name="Oval 9"/>
                <p:cNvSpPr>
                  <a:spLocks noChangeArrowheads="1"/>
                </p:cNvSpPr>
                <p:nvPr/>
              </p:nvSpPr>
              <p:spPr bwMode="gray">
                <a:xfrm>
                  <a:off x="2016" y="1920"/>
                  <a:ext cx="1680" cy="168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63529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uk-UA"/>
                </a:p>
              </p:txBody>
            </p:sp>
            <p:sp>
              <p:nvSpPr>
                <p:cNvPr id="103434" name="Freeform 10"/>
                <p:cNvSpPr>
                  <a:spLocks/>
                </p:cNvSpPr>
                <p:nvPr/>
              </p:nvSpPr>
              <p:spPr bwMode="gray">
                <a:xfrm>
                  <a:off x="2208" y="1948"/>
                  <a:ext cx="1296" cy="634"/>
                </a:xfrm>
                <a:custGeom>
                  <a:avLst/>
                  <a:gdLst/>
                  <a:ahLst/>
                  <a:cxnLst>
                    <a:cxn ang="0">
                      <a:pos x="1301" y="401"/>
                    </a:cxn>
                    <a:cxn ang="0">
                      <a:pos x="1317" y="442"/>
                    </a:cxn>
                    <a:cxn ang="0">
                      <a:pos x="1321" y="481"/>
                    </a:cxn>
                    <a:cxn ang="0">
                      <a:pos x="1315" y="516"/>
                    </a:cxn>
                    <a:cxn ang="0">
                      <a:pos x="1298" y="550"/>
                    </a:cxn>
                    <a:cxn ang="0">
                      <a:pos x="1272" y="579"/>
                    </a:cxn>
                    <a:cxn ang="0">
                      <a:pos x="1239" y="604"/>
                    </a:cxn>
                    <a:cxn ang="0">
                      <a:pos x="1196" y="628"/>
                    </a:cxn>
                    <a:cxn ang="0">
                      <a:pos x="1147" y="649"/>
                    </a:cxn>
                    <a:cxn ang="0">
                      <a:pos x="1092" y="667"/>
                    </a:cxn>
                    <a:cxn ang="0">
                      <a:pos x="1031" y="683"/>
                    </a:cxn>
                    <a:cxn ang="0">
                      <a:pos x="967" y="694"/>
                    </a:cxn>
                    <a:cxn ang="0">
                      <a:pos x="896" y="704"/>
                    </a:cxn>
                    <a:cxn ang="0">
                      <a:pos x="824" y="710"/>
                    </a:cxn>
                    <a:cxn ang="0">
                      <a:pos x="795" y="712"/>
                    </a:cxn>
                    <a:cxn ang="0">
                      <a:pos x="476" y="712"/>
                    </a:cxn>
                    <a:cxn ang="0">
                      <a:pos x="472" y="712"/>
                    </a:cxn>
                    <a:cxn ang="0">
                      <a:pos x="409" y="708"/>
                    </a:cxn>
                    <a:cxn ang="0">
                      <a:pos x="348" y="704"/>
                    </a:cxn>
                    <a:cxn ang="0">
                      <a:pos x="290" y="696"/>
                    </a:cxn>
                    <a:cxn ang="0">
                      <a:pos x="235" y="689"/>
                    </a:cxn>
                    <a:cxn ang="0">
                      <a:pos x="186" y="677"/>
                    </a:cxn>
                    <a:cxn ang="0">
                      <a:pos x="141" y="663"/>
                    </a:cxn>
                    <a:cxn ang="0">
                      <a:pos x="102" y="648"/>
                    </a:cxn>
                    <a:cxn ang="0">
                      <a:pos x="67" y="630"/>
                    </a:cxn>
                    <a:cxn ang="0">
                      <a:pos x="39" y="608"/>
                    </a:cxn>
                    <a:cxn ang="0">
                      <a:pos x="18" y="583"/>
                    </a:cxn>
                    <a:cxn ang="0">
                      <a:pos x="6" y="554"/>
                    </a:cxn>
                    <a:cxn ang="0">
                      <a:pos x="0" y="524"/>
                    </a:cxn>
                    <a:cxn ang="0">
                      <a:pos x="0" y="520"/>
                    </a:cxn>
                    <a:cxn ang="0">
                      <a:pos x="4" y="487"/>
                    </a:cxn>
                    <a:cxn ang="0">
                      <a:pos x="16" y="446"/>
                    </a:cxn>
                    <a:cxn ang="0">
                      <a:pos x="51" y="370"/>
                    </a:cxn>
                    <a:cxn ang="0">
                      <a:pos x="94" y="299"/>
                    </a:cxn>
                    <a:cxn ang="0">
                      <a:pos x="147" y="235"/>
                    </a:cxn>
                    <a:cxn ang="0">
                      <a:pos x="204" y="176"/>
                    </a:cxn>
                    <a:cxn ang="0">
                      <a:pos x="270" y="125"/>
                    </a:cxn>
                    <a:cxn ang="0">
                      <a:pos x="341" y="82"/>
                    </a:cxn>
                    <a:cxn ang="0">
                      <a:pos x="415" y="47"/>
                    </a:cxn>
                    <a:cxn ang="0">
                      <a:pos x="497" y="21"/>
                    </a:cxn>
                    <a:cxn ang="0">
                      <a:pos x="581" y="6"/>
                    </a:cxn>
                    <a:cxn ang="0">
                      <a:pos x="667" y="0"/>
                    </a:cxn>
                    <a:cxn ang="0">
                      <a:pos x="667" y="0"/>
                    </a:cxn>
                    <a:cxn ang="0">
                      <a:pos x="759" y="6"/>
                    </a:cxn>
                    <a:cxn ang="0">
                      <a:pos x="847" y="23"/>
                    </a:cxn>
                    <a:cxn ang="0">
                      <a:pos x="932" y="53"/>
                    </a:cxn>
                    <a:cxn ang="0">
                      <a:pos x="1010" y="90"/>
                    </a:cxn>
                    <a:cxn ang="0">
                      <a:pos x="1082" y="137"/>
                    </a:cxn>
                    <a:cxn ang="0">
                      <a:pos x="1149" y="194"/>
                    </a:cxn>
                    <a:cxn ang="0">
                      <a:pos x="1208" y="256"/>
                    </a:cxn>
                    <a:cxn ang="0">
                      <a:pos x="1258" y="325"/>
                    </a:cxn>
                    <a:cxn ang="0">
                      <a:pos x="1301" y="401"/>
                    </a:cxn>
                    <a:cxn ang="0">
                      <a:pos x="1301" y="401"/>
                    </a:cxn>
                  </a:cxnLst>
                  <a:rect l="0" t="0" r="r" b="b"/>
                  <a:pathLst>
                    <a:path w="1321" h="712">
                      <a:moveTo>
                        <a:pt x="1301" y="401"/>
                      </a:moveTo>
                      <a:lnTo>
                        <a:pt x="1317" y="442"/>
                      </a:lnTo>
                      <a:lnTo>
                        <a:pt x="1321" y="481"/>
                      </a:lnTo>
                      <a:lnTo>
                        <a:pt x="1315" y="516"/>
                      </a:lnTo>
                      <a:lnTo>
                        <a:pt x="1298" y="550"/>
                      </a:lnTo>
                      <a:lnTo>
                        <a:pt x="1272" y="579"/>
                      </a:lnTo>
                      <a:lnTo>
                        <a:pt x="1239" y="604"/>
                      </a:lnTo>
                      <a:lnTo>
                        <a:pt x="1196" y="628"/>
                      </a:lnTo>
                      <a:lnTo>
                        <a:pt x="1147" y="649"/>
                      </a:lnTo>
                      <a:lnTo>
                        <a:pt x="1092" y="667"/>
                      </a:lnTo>
                      <a:lnTo>
                        <a:pt x="1031" y="683"/>
                      </a:lnTo>
                      <a:lnTo>
                        <a:pt x="967" y="694"/>
                      </a:lnTo>
                      <a:lnTo>
                        <a:pt x="896" y="704"/>
                      </a:lnTo>
                      <a:lnTo>
                        <a:pt x="824" y="710"/>
                      </a:lnTo>
                      <a:lnTo>
                        <a:pt x="795" y="712"/>
                      </a:lnTo>
                      <a:lnTo>
                        <a:pt x="476" y="712"/>
                      </a:lnTo>
                      <a:lnTo>
                        <a:pt x="472" y="712"/>
                      </a:lnTo>
                      <a:lnTo>
                        <a:pt x="409" y="708"/>
                      </a:lnTo>
                      <a:lnTo>
                        <a:pt x="348" y="704"/>
                      </a:lnTo>
                      <a:lnTo>
                        <a:pt x="290" y="696"/>
                      </a:lnTo>
                      <a:lnTo>
                        <a:pt x="235" y="689"/>
                      </a:lnTo>
                      <a:lnTo>
                        <a:pt x="186" y="677"/>
                      </a:lnTo>
                      <a:lnTo>
                        <a:pt x="141" y="663"/>
                      </a:lnTo>
                      <a:lnTo>
                        <a:pt x="102" y="648"/>
                      </a:lnTo>
                      <a:lnTo>
                        <a:pt x="67" y="630"/>
                      </a:lnTo>
                      <a:lnTo>
                        <a:pt x="39" y="608"/>
                      </a:lnTo>
                      <a:lnTo>
                        <a:pt x="18" y="583"/>
                      </a:lnTo>
                      <a:lnTo>
                        <a:pt x="6" y="554"/>
                      </a:lnTo>
                      <a:lnTo>
                        <a:pt x="0" y="524"/>
                      </a:lnTo>
                      <a:lnTo>
                        <a:pt x="0" y="520"/>
                      </a:lnTo>
                      <a:lnTo>
                        <a:pt x="4" y="487"/>
                      </a:lnTo>
                      <a:lnTo>
                        <a:pt x="16" y="446"/>
                      </a:lnTo>
                      <a:lnTo>
                        <a:pt x="51" y="370"/>
                      </a:lnTo>
                      <a:lnTo>
                        <a:pt x="94" y="299"/>
                      </a:lnTo>
                      <a:lnTo>
                        <a:pt x="147" y="235"/>
                      </a:lnTo>
                      <a:lnTo>
                        <a:pt x="204" y="176"/>
                      </a:lnTo>
                      <a:lnTo>
                        <a:pt x="270" y="125"/>
                      </a:lnTo>
                      <a:lnTo>
                        <a:pt x="341" y="82"/>
                      </a:lnTo>
                      <a:lnTo>
                        <a:pt x="415" y="47"/>
                      </a:lnTo>
                      <a:lnTo>
                        <a:pt x="497" y="21"/>
                      </a:lnTo>
                      <a:lnTo>
                        <a:pt x="581" y="6"/>
                      </a:lnTo>
                      <a:lnTo>
                        <a:pt x="667" y="0"/>
                      </a:lnTo>
                      <a:lnTo>
                        <a:pt x="667" y="0"/>
                      </a:lnTo>
                      <a:lnTo>
                        <a:pt x="759" y="6"/>
                      </a:lnTo>
                      <a:lnTo>
                        <a:pt x="847" y="23"/>
                      </a:lnTo>
                      <a:lnTo>
                        <a:pt x="932" y="53"/>
                      </a:lnTo>
                      <a:lnTo>
                        <a:pt x="1010" y="90"/>
                      </a:lnTo>
                      <a:lnTo>
                        <a:pt x="1082" y="137"/>
                      </a:lnTo>
                      <a:lnTo>
                        <a:pt x="1149" y="194"/>
                      </a:lnTo>
                      <a:lnTo>
                        <a:pt x="1208" y="256"/>
                      </a:lnTo>
                      <a:lnTo>
                        <a:pt x="1258" y="325"/>
                      </a:lnTo>
                      <a:lnTo>
                        <a:pt x="1301" y="401"/>
                      </a:lnTo>
                      <a:lnTo>
                        <a:pt x="1301" y="401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uk-UA"/>
                </a:p>
              </p:txBody>
            </p:sp>
          </p:grpSp>
          <p:sp>
            <p:nvSpPr>
              <p:cNvPr id="103435" name="Text Box 11"/>
              <p:cNvSpPr txBox="1">
                <a:spLocks noChangeArrowheads="1"/>
              </p:cNvSpPr>
              <p:nvPr/>
            </p:nvSpPr>
            <p:spPr bwMode="gray">
              <a:xfrm>
                <a:off x="508" y="3017"/>
                <a:ext cx="1498" cy="3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uk-UA" sz="2000" b="1" dirty="0" smtClea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Стаціонарні</a:t>
                </a:r>
                <a:endParaRPr lang="en-US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sp>
          <p:nvSpPr>
            <p:cNvPr id="103436" name="Oval 12"/>
            <p:cNvSpPr>
              <a:spLocks noChangeArrowheads="1"/>
            </p:cNvSpPr>
            <p:nvPr/>
          </p:nvSpPr>
          <p:spPr bwMode="gray">
            <a:xfrm>
              <a:off x="576" y="3504"/>
              <a:ext cx="995" cy="276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uk-UA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971800" y="4254500"/>
            <a:ext cx="1617663" cy="2070100"/>
            <a:chOff x="1776" y="2476"/>
            <a:chExt cx="1019" cy="1304"/>
          </a:xfrm>
        </p:grpSpPr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1776" y="2476"/>
              <a:ext cx="960" cy="958"/>
              <a:chOff x="2016" y="1920"/>
              <a:chExt cx="1680" cy="1680"/>
            </a:xfrm>
          </p:grpSpPr>
          <p:sp>
            <p:nvSpPr>
              <p:cNvPr id="103439" name="Oval 15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5137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uk-UA"/>
              </a:p>
            </p:txBody>
          </p:sp>
          <p:sp>
            <p:nvSpPr>
              <p:cNvPr id="103440" name="Freeform 16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100000">
                    <a:schemeClr val="hlink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103442" name="Oval 18"/>
            <p:cNvSpPr>
              <a:spLocks noChangeArrowheads="1"/>
            </p:cNvSpPr>
            <p:nvPr/>
          </p:nvSpPr>
          <p:spPr bwMode="gray">
            <a:xfrm>
              <a:off x="1800" y="3504"/>
              <a:ext cx="995" cy="276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uk-UA"/>
            </a:p>
          </p:txBody>
        </p: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5029200" y="4210050"/>
            <a:ext cx="1631950" cy="2114550"/>
            <a:chOff x="3072" y="2448"/>
            <a:chExt cx="1028" cy="1332"/>
          </a:xfrm>
        </p:grpSpPr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3072" y="2448"/>
              <a:ext cx="960" cy="958"/>
              <a:chOff x="2016" y="1920"/>
              <a:chExt cx="1680" cy="1680"/>
            </a:xfrm>
          </p:grpSpPr>
          <p:sp>
            <p:nvSpPr>
              <p:cNvPr id="103445" name="Oval 21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5137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uk-UA"/>
              </a:p>
            </p:txBody>
          </p:sp>
          <p:sp>
            <p:nvSpPr>
              <p:cNvPr id="103446" name="Freeform 22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103448" name="Oval 24"/>
            <p:cNvSpPr>
              <a:spLocks noChangeArrowheads="1"/>
            </p:cNvSpPr>
            <p:nvPr/>
          </p:nvSpPr>
          <p:spPr bwMode="gray">
            <a:xfrm>
              <a:off x="3105" y="3504"/>
              <a:ext cx="995" cy="276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uk-UA"/>
            </a:p>
          </p:txBody>
        </p:sp>
      </p:grp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6934200" y="4210050"/>
            <a:ext cx="1579563" cy="2114550"/>
            <a:chOff x="4272" y="2448"/>
            <a:chExt cx="995" cy="1332"/>
          </a:xfrm>
        </p:grpSpPr>
        <p:grpSp>
          <p:nvGrpSpPr>
            <p:cNvPr id="11" name="Group 27"/>
            <p:cNvGrpSpPr>
              <a:grpSpLocks/>
            </p:cNvGrpSpPr>
            <p:nvPr/>
          </p:nvGrpSpPr>
          <p:grpSpPr bwMode="auto">
            <a:xfrm>
              <a:off x="4272" y="2448"/>
              <a:ext cx="960" cy="965"/>
              <a:chOff x="2016" y="1920"/>
              <a:chExt cx="1680" cy="1680"/>
            </a:xfrm>
          </p:grpSpPr>
          <p:sp>
            <p:nvSpPr>
              <p:cNvPr id="103452" name="Oval 28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24314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uk-UA"/>
              </a:p>
            </p:txBody>
          </p:sp>
          <p:sp>
            <p:nvSpPr>
              <p:cNvPr id="103453" name="Freeform 29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folHlink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103455" name="Oval 31"/>
            <p:cNvSpPr>
              <a:spLocks noChangeArrowheads="1"/>
            </p:cNvSpPr>
            <p:nvPr/>
          </p:nvSpPr>
          <p:spPr bwMode="gray">
            <a:xfrm>
              <a:off x="4272" y="3504"/>
              <a:ext cx="995" cy="276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uk-UA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000100" y="6143644"/>
            <a:ext cx="778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smtClean="0">
                <a:solidFill>
                  <a:srgbClr val="002060"/>
                </a:solidFill>
              </a:rPr>
              <a:t>Стаціонарні             Портативні             Планшетні         Кишенькові</a:t>
            </a:r>
            <a:endParaRPr lang="uk-UA" b="1" dirty="0">
              <a:solidFill>
                <a:srgbClr val="002060"/>
              </a:solidFill>
            </a:endParaRPr>
          </a:p>
        </p:txBody>
      </p:sp>
      <p:pic>
        <p:nvPicPr>
          <p:cNvPr id="2051" name="Picture 3" descr="E:\СДІ-5\Значки\Пристрої\a30d40fb77a0 - копия - копия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802" y="4572008"/>
            <a:ext cx="1265233" cy="952082"/>
          </a:xfrm>
          <a:prstGeom prst="rect">
            <a:avLst/>
          </a:prstGeom>
          <a:noFill/>
        </p:spPr>
      </p:pic>
      <p:pic>
        <p:nvPicPr>
          <p:cNvPr id="2052" name="Picture 4" descr="E:\СДІ-5\Значки\Пристрої\a30d40fb77a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86644" y="4429132"/>
            <a:ext cx="1000132" cy="1074105"/>
          </a:xfrm>
          <a:prstGeom prst="rect">
            <a:avLst/>
          </a:prstGeom>
          <a:noFill/>
        </p:spPr>
      </p:pic>
      <p:pic>
        <p:nvPicPr>
          <p:cNvPr id="2053" name="Picture 5" descr="E:\СДІ-5\Значки\Пристрої\computer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52" y="4572008"/>
            <a:ext cx="1079503" cy="1079503"/>
          </a:xfrm>
          <a:prstGeom prst="rect">
            <a:avLst/>
          </a:prstGeom>
          <a:noFill/>
        </p:spPr>
      </p:pic>
      <p:pic>
        <p:nvPicPr>
          <p:cNvPr id="35" name="Рисунок 34" descr="E:\СДІ-5\Значки\Плеєр\kx2_tablet_blue.png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57818" y="4714884"/>
            <a:ext cx="928694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Прямоугольник 35"/>
          <p:cNvSpPr/>
          <p:nvPr/>
        </p:nvSpPr>
        <p:spPr>
          <a:xfrm>
            <a:off x="1571604" y="357166"/>
            <a:ext cx="617893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uk-UA" sz="2000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Виникає потреба в різноманітних комп’ютерах,</a:t>
            </a:r>
            <a:br>
              <a:rPr lang="uk-UA" sz="2000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uk-UA" sz="2000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зручних для використання в різних умовах</a:t>
            </a:r>
            <a:endParaRPr lang="ru-RU" sz="2000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008088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компьютер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30008088</Template>
  <TotalTime>1453</TotalTime>
  <Words>338</Words>
  <Application>Microsoft Office PowerPoint</Application>
  <PresentationFormat>Экран (4:3)</PresentationFormat>
  <Paragraphs>39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Verdana</vt:lpstr>
      <vt:lpstr>Wingdings</vt:lpstr>
      <vt:lpstr>30008088</vt:lpstr>
      <vt:lpstr>компьютер</vt:lpstr>
      <vt:lpstr>Якими бувають персональні комп’ютери</vt:lpstr>
      <vt:lpstr>Стаціонарні комп’ютери</vt:lpstr>
      <vt:lpstr>Портативні комп’ютери</vt:lpstr>
      <vt:lpstr>планшетні комп’ютери</vt:lpstr>
      <vt:lpstr>Кишенькові комп’ютери</vt:lpstr>
      <vt:lpstr>Block Diagram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Якими бувають персональні комп’ютери</dc:title>
  <dc:creator>Наталія Саражинська</dc:creator>
  <cp:lastModifiedBy>Ольга Барна</cp:lastModifiedBy>
  <cp:revision>79</cp:revision>
  <dcterms:created xsi:type="dcterms:W3CDTF">2012-08-25T19:29:27Z</dcterms:created>
  <dcterms:modified xsi:type="dcterms:W3CDTF">2017-11-23T21:19:43Z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TC300080881049</vt:lpwstr>
  </property>
</Properties>
</file>